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95" r:id="rId3"/>
    <p:sldId id="290" r:id="rId4"/>
    <p:sldId id="298" r:id="rId5"/>
    <p:sldId id="292" r:id="rId6"/>
    <p:sldId id="297" r:id="rId7"/>
    <p:sldId id="293" r:id="rId8"/>
    <p:sldId id="288" r:id="rId9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659AE7-34AE-4A51-AF77-8DE718DCEEBB}" v="76" dt="2026-09-18T09:50:48.64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76" d="100"/>
          <a:sy n="76" d="100"/>
        </p:scale>
        <p:origin x="249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s Sanchez-Toril Bastrygina" userId="3b03b09f-13c0-4e05-819a-d5dea8e09df8" providerId="ADAL" clId="{AB6E9420-9DA3-455F-BCF4-9F7D2E397574}"/>
    <pc:docChg chg="undo custSel addSld modSld sldOrd">
      <pc:chgData name="Andrés Sanchez-Toril Bastrygina" userId="3b03b09f-13c0-4e05-819a-d5dea8e09df8" providerId="ADAL" clId="{AB6E9420-9DA3-455F-BCF4-9F7D2E397574}" dt="2026-09-18T09:50:48.637" v="185" actId="255"/>
      <pc:docMkLst>
        <pc:docMk/>
      </pc:docMkLst>
      <pc:sldChg chg="addSp delSp modSp mod">
        <pc:chgData name="Andrés Sanchez-Toril Bastrygina" userId="3b03b09f-13c0-4e05-819a-d5dea8e09df8" providerId="ADAL" clId="{AB6E9420-9DA3-455F-BCF4-9F7D2E397574}" dt="2026-09-18T09:10:32.800" v="32"/>
        <pc:sldMkLst>
          <pc:docMk/>
          <pc:sldMk cId="0" sldId="256"/>
        </pc:sldMkLst>
        <pc:spChg chg="add del mod">
          <ac:chgData name="Andrés Sanchez-Toril Bastrygina" userId="3b03b09f-13c0-4e05-819a-d5dea8e09df8" providerId="ADAL" clId="{AB6E9420-9DA3-455F-BCF4-9F7D2E397574}" dt="2026-09-18T09:10:32.800" v="32"/>
          <ac:spMkLst>
            <pc:docMk/>
            <pc:sldMk cId="0" sldId="256"/>
            <ac:spMk id="2" creationId="{008F5D8B-4410-F267-0834-2EF1C587C315}"/>
          </ac:spMkLst>
        </pc:spChg>
        <pc:spChg chg="mod">
          <ac:chgData name="Andrés Sanchez-Toril Bastrygina" userId="3b03b09f-13c0-4e05-819a-d5dea8e09df8" providerId="ADAL" clId="{AB6E9420-9DA3-455F-BCF4-9F7D2E397574}" dt="2026-09-18T09:10:29.595" v="30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modSp mod">
        <pc:chgData name="Andrés Sanchez-Toril Bastrygina" userId="3b03b09f-13c0-4e05-819a-d5dea8e09df8" providerId="ADAL" clId="{AB6E9420-9DA3-455F-BCF4-9F7D2E397574}" dt="2026-09-18T09:28:31.611" v="70" actId="20577"/>
        <pc:sldMkLst>
          <pc:docMk/>
          <pc:sldMk cId="730501311" sldId="290"/>
        </pc:sldMkLst>
        <pc:spChg chg="mod">
          <ac:chgData name="Andrés Sanchez-Toril Bastrygina" userId="3b03b09f-13c0-4e05-819a-d5dea8e09df8" providerId="ADAL" clId="{AB6E9420-9DA3-455F-BCF4-9F7D2E397574}" dt="2026-09-18T09:28:31.611" v="70" actId="20577"/>
          <ac:spMkLst>
            <pc:docMk/>
            <pc:sldMk cId="730501311" sldId="290"/>
            <ac:spMk id="10" creationId="{C814CDD6-2B59-8488-4EB8-82801B4D3F22}"/>
          </ac:spMkLst>
        </pc:spChg>
        <pc:picChg chg="add mod">
          <ac:chgData name="Andrés Sanchez-Toril Bastrygina" userId="3b03b09f-13c0-4e05-819a-d5dea8e09df8" providerId="ADAL" clId="{AB6E9420-9DA3-455F-BCF4-9F7D2E397574}" dt="2026-09-18T09:24:28.061" v="36" actId="1076"/>
          <ac:picMkLst>
            <pc:docMk/>
            <pc:sldMk cId="730501311" sldId="290"/>
            <ac:picMk id="5" creationId="{1CC6EB6E-C676-059F-5899-ED5FB33B3B8B}"/>
          </ac:picMkLst>
        </pc:picChg>
        <pc:picChg chg="add mod">
          <ac:chgData name="Andrés Sanchez-Toril Bastrygina" userId="3b03b09f-13c0-4e05-819a-d5dea8e09df8" providerId="ADAL" clId="{AB6E9420-9DA3-455F-BCF4-9F7D2E397574}" dt="2026-09-18T09:24:51.947" v="42" actId="1076"/>
          <ac:picMkLst>
            <pc:docMk/>
            <pc:sldMk cId="730501311" sldId="290"/>
            <ac:picMk id="7" creationId="{9F78D778-C111-D195-D342-0C70566AF037}"/>
          </ac:picMkLst>
        </pc:picChg>
      </pc:sldChg>
      <pc:sldChg chg="addSp delSp modSp mod ord">
        <pc:chgData name="Andrés Sanchez-Toril Bastrygina" userId="3b03b09f-13c0-4e05-819a-d5dea8e09df8" providerId="ADAL" clId="{AB6E9420-9DA3-455F-BCF4-9F7D2E397574}" dt="2026-09-18T09:33:02.140" v="111" actId="20577"/>
        <pc:sldMkLst>
          <pc:docMk/>
          <pc:sldMk cId="2900117438" sldId="292"/>
        </pc:sldMkLst>
        <pc:spChg chg="mod">
          <ac:chgData name="Andrés Sanchez-Toril Bastrygina" userId="3b03b09f-13c0-4e05-819a-d5dea8e09df8" providerId="ADAL" clId="{AB6E9420-9DA3-455F-BCF4-9F7D2E397574}" dt="2026-09-18T09:33:02.140" v="111" actId="20577"/>
          <ac:spMkLst>
            <pc:docMk/>
            <pc:sldMk cId="2900117438" sldId="292"/>
            <ac:spMk id="2" creationId="{82A62DD6-5488-72A1-9926-0CAEE59089A9}"/>
          </ac:spMkLst>
        </pc:spChg>
        <pc:spChg chg="del">
          <ac:chgData name="Andrés Sanchez-Toril Bastrygina" userId="3b03b09f-13c0-4e05-819a-d5dea8e09df8" providerId="ADAL" clId="{AB6E9420-9DA3-455F-BCF4-9F7D2E397574}" dt="2026-09-18T09:31:41.760" v="84" actId="478"/>
          <ac:spMkLst>
            <pc:docMk/>
            <pc:sldMk cId="2900117438" sldId="292"/>
            <ac:spMk id="7" creationId="{FBC7D187-267A-ADD4-764C-D3820B8ED302}"/>
          </ac:spMkLst>
        </pc:spChg>
        <pc:spChg chg="del">
          <ac:chgData name="Andrés Sanchez-Toril Bastrygina" userId="3b03b09f-13c0-4e05-819a-d5dea8e09df8" providerId="ADAL" clId="{AB6E9420-9DA3-455F-BCF4-9F7D2E397574}" dt="2026-09-18T09:31:36.952" v="83" actId="478"/>
          <ac:spMkLst>
            <pc:docMk/>
            <pc:sldMk cId="2900117438" sldId="292"/>
            <ac:spMk id="8" creationId="{1EF5BFDA-8EC1-8C73-A932-F36C4DB93C73}"/>
          </ac:spMkLst>
        </pc:spChg>
        <pc:picChg chg="add del mod">
          <ac:chgData name="Andrés Sanchez-Toril Bastrygina" userId="3b03b09f-13c0-4e05-819a-d5dea8e09df8" providerId="ADAL" clId="{AB6E9420-9DA3-455F-BCF4-9F7D2E397574}" dt="2026-09-18T09:31:35.031" v="82" actId="478"/>
          <ac:picMkLst>
            <pc:docMk/>
            <pc:sldMk cId="2900117438" sldId="292"/>
            <ac:picMk id="4" creationId="{6100853A-3E2F-526E-FC4F-121BB11CA5DB}"/>
          </ac:picMkLst>
        </pc:picChg>
      </pc:sldChg>
      <pc:sldChg chg="addSp delSp modSp mod">
        <pc:chgData name="Andrés Sanchez-Toril Bastrygina" userId="3b03b09f-13c0-4e05-819a-d5dea8e09df8" providerId="ADAL" clId="{AB6E9420-9DA3-455F-BCF4-9F7D2E397574}" dt="2026-09-18T09:50:48.637" v="185" actId="255"/>
        <pc:sldMkLst>
          <pc:docMk/>
          <pc:sldMk cId="3660438245" sldId="293"/>
        </pc:sldMkLst>
        <pc:spChg chg="mod">
          <ac:chgData name="Andrés Sanchez-Toril Bastrygina" userId="3b03b09f-13c0-4e05-819a-d5dea8e09df8" providerId="ADAL" clId="{AB6E9420-9DA3-455F-BCF4-9F7D2E397574}" dt="2026-09-18T09:50:48.637" v="185" actId="255"/>
          <ac:spMkLst>
            <pc:docMk/>
            <pc:sldMk cId="3660438245" sldId="293"/>
            <ac:spMk id="2" creationId="{FDE3A197-9508-F9F1-1FEB-FF883D78C151}"/>
          </ac:spMkLst>
        </pc:spChg>
        <pc:spChg chg="del">
          <ac:chgData name="Andrés Sanchez-Toril Bastrygina" userId="3b03b09f-13c0-4e05-819a-d5dea8e09df8" providerId="ADAL" clId="{AB6E9420-9DA3-455F-BCF4-9F7D2E397574}" dt="2026-09-18T09:41:51.991" v="148" actId="478"/>
          <ac:spMkLst>
            <pc:docMk/>
            <pc:sldMk cId="3660438245" sldId="293"/>
            <ac:spMk id="8" creationId="{331EBD86-BA6C-68C9-2D38-FC8CFBA7ADC4}"/>
          </ac:spMkLst>
        </pc:spChg>
        <pc:picChg chg="add mod">
          <ac:chgData name="Andrés Sanchez-Toril Bastrygina" userId="3b03b09f-13c0-4e05-819a-d5dea8e09df8" providerId="ADAL" clId="{AB6E9420-9DA3-455F-BCF4-9F7D2E397574}" dt="2026-09-18T09:41:47.064" v="147" actId="1076"/>
          <ac:picMkLst>
            <pc:docMk/>
            <pc:sldMk cId="3660438245" sldId="293"/>
            <ac:picMk id="4" creationId="{5B4017A7-C995-E877-0983-D18C569CDFFD}"/>
          </ac:picMkLst>
        </pc:picChg>
        <pc:picChg chg="add mod">
          <ac:chgData name="Andrés Sanchez-Toril Bastrygina" userId="3b03b09f-13c0-4e05-819a-d5dea8e09df8" providerId="ADAL" clId="{AB6E9420-9DA3-455F-BCF4-9F7D2E397574}" dt="2026-09-18T09:42:04.393" v="152" actId="1076"/>
          <ac:picMkLst>
            <pc:docMk/>
            <pc:sldMk cId="3660438245" sldId="293"/>
            <ac:picMk id="5" creationId="{F05D197F-9E89-6831-EF0F-8BCE26E33EC2}"/>
          </ac:picMkLst>
        </pc:picChg>
      </pc:sldChg>
      <pc:sldChg chg="addSp delSp modSp mod">
        <pc:chgData name="Andrés Sanchez-Toril Bastrygina" userId="3b03b09f-13c0-4e05-819a-d5dea8e09df8" providerId="ADAL" clId="{AB6E9420-9DA3-455F-BCF4-9F7D2E397574}" dt="2026-09-18T09:37:23.198" v="143" actId="20577"/>
        <pc:sldMkLst>
          <pc:docMk/>
          <pc:sldMk cId="236054401" sldId="297"/>
        </pc:sldMkLst>
        <pc:spChg chg="mod">
          <ac:chgData name="Andrés Sanchez-Toril Bastrygina" userId="3b03b09f-13c0-4e05-819a-d5dea8e09df8" providerId="ADAL" clId="{AB6E9420-9DA3-455F-BCF4-9F7D2E397574}" dt="2026-09-18T09:37:23.198" v="143" actId="20577"/>
          <ac:spMkLst>
            <pc:docMk/>
            <pc:sldMk cId="236054401" sldId="297"/>
            <ac:spMk id="2" creationId="{A440F587-93A3-E474-C0B0-883BB9DAFD85}"/>
          </ac:spMkLst>
        </pc:spChg>
        <pc:spChg chg="del">
          <ac:chgData name="Andrés Sanchez-Toril Bastrygina" userId="3b03b09f-13c0-4e05-819a-d5dea8e09df8" providerId="ADAL" clId="{AB6E9420-9DA3-455F-BCF4-9F7D2E397574}" dt="2026-09-18T09:34:51.812" v="132" actId="478"/>
          <ac:spMkLst>
            <pc:docMk/>
            <pc:sldMk cId="236054401" sldId="297"/>
            <ac:spMk id="8" creationId="{0F38E924-A0E7-A039-C837-916BA77FE89B}"/>
          </ac:spMkLst>
        </pc:spChg>
        <pc:spChg chg="del mod">
          <ac:chgData name="Andrés Sanchez-Toril Bastrygina" userId="3b03b09f-13c0-4e05-819a-d5dea8e09df8" providerId="ADAL" clId="{AB6E9420-9DA3-455F-BCF4-9F7D2E397574}" dt="2026-09-18T09:34:23.348" v="118" actId="478"/>
          <ac:spMkLst>
            <pc:docMk/>
            <pc:sldMk cId="236054401" sldId="297"/>
            <ac:spMk id="9" creationId="{C59B6428-4395-242F-54D8-A9FC610F2D7A}"/>
          </ac:spMkLst>
        </pc:spChg>
        <pc:spChg chg="del mod">
          <ac:chgData name="Andrés Sanchez-Toril Bastrygina" userId="3b03b09f-13c0-4e05-819a-d5dea8e09df8" providerId="ADAL" clId="{AB6E9420-9DA3-455F-BCF4-9F7D2E397574}" dt="2026-09-18T09:34:50.447" v="131" actId="478"/>
          <ac:spMkLst>
            <pc:docMk/>
            <pc:sldMk cId="236054401" sldId="297"/>
            <ac:spMk id="10" creationId="{9320AF78-1FC6-19F4-8E0B-8A414F20C6DE}"/>
          </ac:spMkLst>
        </pc:spChg>
        <pc:picChg chg="add mod">
          <ac:chgData name="Andrés Sanchez-Toril Bastrygina" userId="3b03b09f-13c0-4e05-819a-d5dea8e09df8" providerId="ADAL" clId="{AB6E9420-9DA3-455F-BCF4-9F7D2E397574}" dt="2026-09-18T09:34:31.834" v="123" actId="1076"/>
          <ac:picMkLst>
            <pc:docMk/>
            <pc:sldMk cId="236054401" sldId="297"/>
            <ac:picMk id="4" creationId="{FAF500B3-B04D-F8EC-2597-DF4AF15D2D83}"/>
          </ac:picMkLst>
        </pc:picChg>
        <pc:picChg chg="add mod">
          <ac:chgData name="Andrés Sanchez-Toril Bastrygina" userId="3b03b09f-13c0-4e05-819a-d5dea8e09df8" providerId="ADAL" clId="{AB6E9420-9DA3-455F-BCF4-9F7D2E397574}" dt="2026-09-18T09:34:47.836" v="129" actId="1076"/>
          <ac:picMkLst>
            <pc:docMk/>
            <pc:sldMk cId="236054401" sldId="297"/>
            <ac:picMk id="7" creationId="{BBCBE8C3-CF99-0568-B744-73AD856C2383}"/>
          </ac:picMkLst>
        </pc:picChg>
      </pc:sldChg>
      <pc:sldChg chg="delSp modSp add mod">
        <pc:chgData name="Andrés Sanchez-Toril Bastrygina" userId="3b03b09f-13c0-4e05-819a-d5dea8e09df8" providerId="ADAL" clId="{AB6E9420-9DA3-455F-BCF4-9F7D2E397574}" dt="2026-09-18T09:32:08.807" v="97" actId="1076"/>
        <pc:sldMkLst>
          <pc:docMk/>
          <pc:sldMk cId="2712503759" sldId="298"/>
        </pc:sldMkLst>
        <pc:spChg chg="del">
          <ac:chgData name="Andrés Sanchez-Toril Bastrygina" userId="3b03b09f-13c0-4e05-819a-d5dea8e09df8" providerId="ADAL" clId="{AB6E9420-9DA3-455F-BCF4-9F7D2E397574}" dt="2026-09-18T09:31:58.137" v="93" actId="478"/>
          <ac:spMkLst>
            <pc:docMk/>
            <pc:sldMk cId="2712503759" sldId="298"/>
            <ac:spMk id="2" creationId="{B1E698A9-8BF8-25C5-41E1-EEEEFAC6121E}"/>
          </ac:spMkLst>
        </pc:spChg>
        <pc:spChg chg="mod">
          <ac:chgData name="Andrés Sanchez-Toril Bastrygina" userId="3b03b09f-13c0-4e05-819a-d5dea8e09df8" providerId="ADAL" clId="{AB6E9420-9DA3-455F-BCF4-9F7D2E397574}" dt="2026-09-18T09:32:02.367" v="94" actId="14100"/>
          <ac:spMkLst>
            <pc:docMk/>
            <pc:sldMk cId="2712503759" sldId="298"/>
            <ac:spMk id="7" creationId="{CD1EFB0D-458F-3C71-B040-D27843959AA4}"/>
          </ac:spMkLst>
        </pc:spChg>
        <pc:picChg chg="mod">
          <ac:chgData name="Andrés Sanchez-Toril Bastrygina" userId="3b03b09f-13c0-4e05-819a-d5dea8e09df8" providerId="ADAL" clId="{AB6E9420-9DA3-455F-BCF4-9F7D2E397574}" dt="2026-09-18T09:32:08.807" v="97" actId="1076"/>
          <ac:picMkLst>
            <pc:docMk/>
            <pc:sldMk cId="2712503759" sldId="298"/>
            <ac:picMk id="4" creationId="{54047F97-67AF-0DF7-FDBB-5F85F567ED7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18/09/2026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18/09/2026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238A3-FED1-DD8F-49C9-F56F4963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6A1C91C-EA73-594C-471E-F965C6BF1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0DC66E7-D4A7-6B64-83DA-55D10332C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FCB313-D3B0-CF73-6514-808BE4840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8984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AA65-166B-474B-A6C9-9858D86A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158223-A8BA-05F6-464C-EC03A9FB8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CB4DF-C329-8F47-9ECE-661B5B2BF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B2276-A4E2-DFBF-0088-6997E86C9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315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ccanvas-upv/pic-upv-lab1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NUL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1.0. </a:t>
            </a:r>
            <a:r>
              <a:rPr lang="es-ES" sz="3200" b="1" dirty="0" err="1">
                <a:latin typeface="Lucida Sans"/>
                <a:cs typeface="Lucida Sans"/>
              </a:rPr>
              <a:t>Waveguides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>
                <a:latin typeface="Arial"/>
                <a:cs typeface="Arial"/>
              </a:rPr>
              <a:t>Student: Andrés Sanchez-Toril 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s-ES" dirty="0" err="1">
                <a:hlinkClick r:id="rId3"/>
              </a:rPr>
              <a:t>cccanvas-upv</a:t>
            </a:r>
            <a:r>
              <a:rPr lang="es-ES">
                <a:hlinkClick r:id="rId3"/>
              </a:rPr>
              <a:t>/pic-upv-lab1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WAVEGUIDES_Student.ipynb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sz="2000" b="1" i="1" u="sng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902765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47061" y="3983757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091131" y="4210910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84805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504743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1984805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3983988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391400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473440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93378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473440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472623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391400" y="4690819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575910" y="3994221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233207" y="4689210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351994" y="4887127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8706378" y="3990085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306491" y="5257071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2969899" y="5257071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47392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Convergence tests</a:t>
            </a:r>
            <a:br>
              <a:rPr lang="en-US" sz="2500" dirty="0"/>
            </a:br>
            <a:r>
              <a:rPr lang="nl-NL" b="0" dirty="0"/>
              <a:t>DE waveguide, w = 1.2 µm, neff_TE0, wvl 1.55 µm.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7C6D40-33EE-D9BE-7F58-8D96221D0D59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5ECC9-91D2-2918-1681-822F99EB31CD}"/>
              </a:ext>
            </a:extLst>
          </p:cNvPr>
          <p:cNvSpPr txBox="1"/>
          <p:nvPr/>
        </p:nvSpPr>
        <p:spPr>
          <a:xfrm>
            <a:off x="1079403" y="2709096"/>
            <a:ext cx="4546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neff_TE0 vs </a:t>
            </a:r>
            <a:r>
              <a:rPr lang="en-US" dirty="0" err="1"/>
              <a:t>grid_resolution</a:t>
            </a:r>
            <a:r>
              <a:rPr lang="en-US" dirty="0"/>
              <a:t> plot here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814CDD6-2B59-8488-4EB8-82801B4D3F22}"/>
                  </a:ext>
                </a:extLst>
              </p:cNvPr>
              <p:cNvSpPr txBox="1"/>
              <p:nvPr/>
            </p:nvSpPr>
            <p:spPr>
              <a:xfrm>
                <a:off x="609441" y="4860334"/>
                <a:ext cx="11199971" cy="79496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ES" sz="1100" dirty="0">
                    <a:latin typeface="+mj-lt"/>
                  </a:rPr>
                  <a:t>El cálculo del índice efectivo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 i="1">
                            <a:latin typeface="+mj-lt"/>
                          </a:rPr>
                        </m:ctrlPr>
                      </m:sSubPr>
                      <m:e>
                        <m:r>
                          <a:rPr lang="es-ES" sz="1100" i="1">
                            <a:latin typeface="+mj-lt"/>
                          </a:rPr>
                          <m:t>𝑛</m:t>
                        </m:r>
                      </m:e>
                      <m:sub>
                        <m:r>
                          <m:rPr>
                            <m:nor/>
                          </m:rPr>
                          <a:rPr lang="es-ES" sz="1100">
                            <a:latin typeface="+mj-lt"/>
                          </a:rPr>
                          <m:t>eff</m:t>
                        </m:r>
                      </m:sub>
                    </m:sSub>
                  </m:oMath>
                </a14:m>
                <a:r>
                  <a:rPr lang="es-ES" sz="1100" dirty="0">
                    <a:latin typeface="+mj-lt"/>
                  </a:rPr>
                  <a:t>) experimenta variaciones numéricas apreciables para valores bajos de resolución (</a:t>
                </a:r>
                <a:r>
                  <a:rPr lang="es-ES" sz="1100" dirty="0" err="1">
                    <a:latin typeface="+mj-lt"/>
                  </a:rPr>
                  <a:t>grid_resolution</a:t>
                </a:r>
                <a:r>
                  <a:rPr lang="es-ES" sz="11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s-ES" sz="1100">
                        <a:latin typeface="+mj-lt"/>
                      </a:rPr>
                      <m:t>&lt;30</m:t>
                    </m:r>
                  </m:oMath>
                </a14:m>
                <a:r>
                  <a:rPr lang="es-ES" sz="1100" dirty="0">
                    <a:latin typeface="+mj-lt"/>
                  </a:rPr>
                  <a:t>) debido a una discretización insuficiente en las interfaces dieléctricas del núcleo. Sin embargo, la solución se estabiliza asintóticamente y deja de cambiar de manera significativa a partir de un valor de </a:t>
                </a:r>
                <a:r>
                  <a:rPr lang="es-ES" sz="1100" b="1" dirty="0" err="1">
                    <a:latin typeface="+mj-lt"/>
                  </a:rPr>
                  <a:t>grid_resolution</a:t>
                </a:r>
                <a:r>
                  <a:rPr lang="es-ES" sz="1100" b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s-ES" sz="1100">
                        <a:latin typeface="+mj-lt"/>
                      </a:rPr>
                      <m:t>≥</m:t>
                    </m:r>
                  </m:oMath>
                </a14:m>
                <a:r>
                  <a:rPr lang="es-ES" sz="1100" b="1" dirty="0">
                    <a:latin typeface="+mj-lt"/>
                  </a:rPr>
                  <a:t>50</a:t>
                </a:r>
                <a:r>
                  <a:rPr lang="es-ES" sz="1100" dirty="0">
                    <a:latin typeface="+mj-lt"/>
                  </a:rPr>
                  <a:t>, el cual, combinado con un </a:t>
                </a:r>
                <a:r>
                  <a:rPr lang="es-ES" sz="1100" b="1" dirty="0" err="1">
                    <a:latin typeface="+mj-lt"/>
                  </a:rPr>
                  <a:t>max_grid_scaling</a:t>
                </a:r>
                <a:r>
                  <a:rPr lang="es-ES" sz="1100" b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s-ES" sz="1100">
                        <a:latin typeface="+mj-lt"/>
                      </a:rPr>
                      <m:t>≥</m:t>
                    </m:r>
                  </m:oMath>
                </a14:m>
                <a:r>
                  <a:rPr lang="es-ES" sz="1100" b="1" dirty="0">
                    <a:latin typeface="+mj-lt"/>
                  </a:rPr>
                  <a:t>1.5</a:t>
                </a:r>
                <a:r>
                  <a:rPr lang="es-ES" sz="1100" dirty="0">
                    <a:latin typeface="+mj-lt"/>
                  </a:rPr>
                  <a:t>, garantiza convergencia numérica.</a:t>
                </a:r>
                <a:endParaRPr lang="en-US" sz="1100" dirty="0">
                  <a:latin typeface="+mj-lt"/>
                  <a:cs typeface="Arial" panose="020B0604020202020204" pitchFamily="34" charset="0"/>
                </a:endParaRP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814CDD6-2B59-8488-4EB8-82801B4D3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" y="4860334"/>
                <a:ext cx="11199971" cy="7949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029F2FF9-FEB4-7AA3-B3B4-EFA9CFA0E230}"/>
              </a:ext>
            </a:extLst>
          </p:cNvPr>
          <p:cNvSpPr/>
          <p:nvPr/>
        </p:nvSpPr>
        <p:spPr>
          <a:xfrm>
            <a:off x="6322853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2C94B57-6111-4070-F6BA-8C3B9C305618}"/>
              </a:ext>
            </a:extLst>
          </p:cNvPr>
          <p:cNvSpPr txBox="1"/>
          <p:nvPr/>
        </p:nvSpPr>
        <p:spPr>
          <a:xfrm>
            <a:off x="6792815" y="2698951"/>
            <a:ext cx="4546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neff_TE0 vs </a:t>
            </a:r>
            <a:r>
              <a:rPr lang="en-US" dirty="0" err="1"/>
              <a:t>max_grid_scaling</a:t>
            </a:r>
            <a:r>
              <a:rPr lang="en-US" dirty="0"/>
              <a:t> plot here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CC6EB6E-C676-059F-5899-ED5FB33B3B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1374" y="1323336"/>
            <a:ext cx="4242691" cy="329987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F78D778-C111-D195-D342-0C70566AF0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2815" y="1259515"/>
            <a:ext cx="4319782" cy="331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E7D9-2171-269B-ACE8-77F8B816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998CF529-CDA2-C989-9E66-BE581D74DC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2A9B9F6-301C-899B-05E0-60C12B63F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C8FA9457-8FB3-1C22-58CB-1C7CA954C9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A7DF2-F099-0BA6-CCB3-C9DB9BE5D2B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D1EFB0D-458F-3C71-B040-D27843959AA4}"/>
              </a:ext>
            </a:extLst>
          </p:cNvPr>
          <p:cNvSpPr/>
          <p:nvPr/>
        </p:nvSpPr>
        <p:spPr>
          <a:xfrm>
            <a:off x="609441" y="1418372"/>
            <a:ext cx="11199971" cy="4601427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49C547C-7697-F688-EA7B-A3941336961F}"/>
              </a:ext>
            </a:extLst>
          </p:cNvPr>
          <p:cNvSpPr txBox="1"/>
          <p:nvPr/>
        </p:nvSpPr>
        <p:spPr>
          <a:xfrm>
            <a:off x="2286000" y="2671278"/>
            <a:ext cx="7718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4047F97-67AF-0DF7-FDBB-5F85F567E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485045"/>
            <a:ext cx="7653854" cy="445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503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82A62DD6-5488-72A1-9926-0CAEE59089A9}"/>
                  </a:ext>
                </a:extLst>
              </p:cNvPr>
              <p:cNvSpPr txBox="1"/>
              <p:nvPr/>
            </p:nvSpPr>
            <p:spPr>
              <a:xfrm>
                <a:off x="518339" y="1447800"/>
                <a:ext cx="11199971" cy="33811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Hay un incremento monótono del índice efectivo conforme aumenta la dimensión del núcleo, consecuencia directa de un mayor confinamiento del campo electromagnético y una menor penetración en el recubrimiento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/>
                        </m:ctrlPr>
                      </m:sSubPr>
                      <m:e>
                        <m:r>
                          <m:rPr>
                            <m:nor/>
                          </m:rPr>
                          <a:rPr lang="es-ES"/>
                          <m:t>SiO</m:t>
                        </m:r>
                      </m:e>
                      <m:sub>
                        <m:r>
                          <a:rPr lang="es-ES"/>
                          <m:t>2</m:t>
                        </m:r>
                      </m:sub>
                    </m:sSub>
                  </m:oMath>
                </a14:m>
                <a:r>
                  <a:rPr lang="es-ES" dirty="0"/>
                  <a:t>. La línea discontinua fija el índice de refracción 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/>
                        </m:ctrlPr>
                      </m:sSubPr>
                      <m:e>
                        <m:r>
                          <m:rPr>
                            <m:nor/>
                          </m:rPr>
                          <a:rPr lang="es-ES"/>
                          <m:t>SiO</m:t>
                        </m:r>
                      </m:e>
                      <m:sub>
                        <m:r>
                          <a:rPr lang="es-ES"/>
                          <m:t>2</m:t>
                        </m:r>
                      </m:sub>
                    </m:sSub>
                  </m:oMath>
                </a14:m>
                <a:r>
                  <a:rPr lang="es-ES" dirty="0"/>
                  <a:t>(</a:t>
                </a:r>
                <a14:m>
                  <m:oMath xmlns:m="http://schemas.openxmlformats.org/officeDocument/2006/math">
                    <m:r>
                      <a:rPr lang="es-ES" i="1"/>
                      <m:t>𝑛</m:t>
                    </m:r>
                    <m:r>
                      <a:rPr lang="es-ES"/>
                      <m:t>≈1.458</m:t>
                    </m:r>
                  </m:oMath>
                </a14:m>
                <a:r>
                  <a:rPr lang="es-ES" dirty="0"/>
                  <a:t>), estableciendo la condición física de guiado: solo los modos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/>
                        </m:ctrlPr>
                      </m:sSubPr>
                      <m:e>
                        <m:r>
                          <a:rPr lang="es-ES" i="1"/>
                          <m:t>𝑛</m:t>
                        </m:r>
                      </m:e>
                      <m:sub>
                        <m:r>
                          <m:rPr>
                            <m:nor/>
                          </m:rPr>
                          <a:rPr lang="es-ES"/>
                          <m:t>eff</m:t>
                        </m:r>
                      </m:sub>
                    </m:sSub>
                    <m:r>
                      <a:rPr lang="es-ES"/>
                      <m:t>&gt;</m:t>
                    </m:r>
                    <m:sSub>
                      <m:sSubPr>
                        <m:ctrlPr>
                          <a:rPr lang="es-ES" i="1"/>
                        </m:ctrlPr>
                      </m:sSubPr>
                      <m:e>
                        <m:r>
                          <a:rPr lang="es-ES" i="1"/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s-ES"/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s-ES"/>
                              <m:t>SiO</m:t>
                            </m:r>
                          </m:e>
                          <m:sub>
                            <m:r>
                              <a:rPr lang="es-ES"/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s-ES" dirty="0"/>
                  <a:t>se encuentran confinados. </a:t>
                </a:r>
              </a:p>
              <a:p>
                <a:r>
                  <a:rPr lang="es-ES" dirty="0"/>
                  <a:t>A partir de este umbral de corte se observa que, para anchos estrechos (</a:t>
                </a:r>
                <a14:m>
                  <m:oMath xmlns:m="http://schemas.openxmlformats.org/officeDocument/2006/math">
                    <m:r>
                      <a:rPr lang="es-ES" i="1"/>
                      <m:t>𝑤</m:t>
                    </m:r>
                    <m:r>
                      <a:rPr lang="es-ES"/>
                      <m:t>&lt;1.25 </m:t>
                    </m:r>
                    <m:r>
                      <a:rPr lang="es-ES" i="1"/>
                      <m:t>𝜇</m:t>
                    </m:r>
                    <m:r>
                      <m:rPr>
                        <m:nor/>
                      </m:rPr>
                      <a:rPr lang="es-ES"/>
                      <m:t>m</m:t>
                    </m:r>
                  </m:oMath>
                </a14:m>
                <a:r>
                  <a:rPr lang="es-ES" dirty="0"/>
                  <a:t>), la estructura se comporta en régimen estrictamente bimodal, sustentando únicamente los modos fundamentales </a:t>
                </a:r>
                <a:r>
                  <a:rPr lang="es-ES" dirty="0" err="1"/>
                  <a:t>quasi</a:t>
                </a:r>
                <a:r>
                  <a:rPr lang="es-ES" dirty="0"/>
                  <a:t>-TE (Mode 0, con fracción TE cercana a 1 en rojo) y </a:t>
                </a:r>
                <a:r>
                  <a:rPr lang="es-ES" dirty="0" err="1"/>
                  <a:t>quasi</a:t>
                </a:r>
                <a:r>
                  <a:rPr lang="es-ES" dirty="0"/>
                  <a:t>-TM (Mode 1, con fracción TE cercana a 0 en azul). Al superar los </a:t>
                </a:r>
                <a14:m>
                  <m:oMath xmlns:m="http://schemas.openxmlformats.org/officeDocument/2006/math">
                    <m:r>
                      <a:rPr lang="es-ES"/>
                      <m:t>1.25 </m:t>
                    </m:r>
                    <m:r>
                      <a:rPr lang="es-ES" i="1"/>
                      <m:t>𝜇</m:t>
                    </m:r>
                    <m:r>
                      <m:rPr>
                        <m:nor/>
                      </m:rPr>
                      <a:rPr lang="es-ES"/>
                      <m:t>m</m:t>
                    </m:r>
                  </m:oMath>
                </a14:m>
                <a:r>
                  <a:rPr lang="es-ES" dirty="0"/>
                  <a:t>, el modo de orden superior Mode 2 cruza el límite de corte del </a:t>
                </a:r>
                <a:r>
                  <a:rPr lang="es-ES" dirty="0" err="1"/>
                  <a:t>cladding</a:t>
                </a:r>
                <a:r>
                  <a:rPr lang="es-ES" dirty="0"/>
                  <a:t> y se convierte en un modo guiado, al que se suma el Mode 3 para anchos en torno a </a:t>
                </a:r>
                <a14:m>
                  <m:oMath xmlns:m="http://schemas.openxmlformats.org/officeDocument/2006/math">
                    <m:r>
                      <a:rPr lang="es-ES"/>
                      <m:t>1.6 </m:t>
                    </m:r>
                    <m:r>
                      <a:rPr lang="es-ES" i="1"/>
                      <m:t>𝜇</m:t>
                    </m:r>
                    <m:r>
                      <m:rPr>
                        <m:nor/>
                      </m:rPr>
                      <a:rPr lang="es-ES"/>
                      <m:t>m</m:t>
                    </m:r>
                  </m:oMath>
                </a14:m>
                <a:r>
                  <a:rPr lang="es-ES" dirty="0"/>
                  <a:t>. Asimismo, el modo fundamental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/>
                        </m:ctrlPr>
                      </m:sSubPr>
                      <m:e>
                        <m:r>
                          <m:rPr>
                            <m:nor/>
                          </m:rPr>
                          <a:rPr lang="es-ES"/>
                          <m:t>TE</m:t>
                        </m:r>
                      </m:e>
                      <m:sub>
                        <m:r>
                          <a:rPr lang="es-ES"/>
                          <m:t>0</m:t>
                        </m:r>
                      </m:sub>
                    </m:sSub>
                  </m:oMath>
                </a14:m>
                <a:r>
                  <a:rPr lang="es-ES" dirty="0"/>
                  <a:t>presenta en todo el rango un índice efectivo significativamente mayor que 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/>
                        </m:ctrlPr>
                      </m:sSubPr>
                      <m:e>
                        <m:r>
                          <m:rPr>
                            <m:nor/>
                          </m:rPr>
                          <a:rPr lang="es-ES"/>
                          <m:t>TM</m:t>
                        </m:r>
                      </m:e>
                      <m:sub>
                        <m:r>
                          <a:rPr lang="es-ES"/>
                          <m:t>0</m:t>
                        </m:r>
                      </m:sub>
                    </m:sSub>
                  </m:oMath>
                </a14:m>
                <a:r>
                  <a:rPr lang="es-ES" dirty="0"/>
                  <a:t>debido a la elevada asimetría geométrica de la sección (</a:t>
                </a:r>
                <a14:m>
                  <m:oMath xmlns:m="http://schemas.openxmlformats.org/officeDocument/2006/math">
                    <m:r>
                      <a:rPr lang="es-ES" i="1"/>
                      <m:t>ℎ</m:t>
                    </m:r>
                    <m:r>
                      <a:rPr lang="es-ES"/>
                      <m:t>=300 </m:t>
                    </m:r>
                    <m:r>
                      <m:rPr>
                        <m:nor/>
                      </m:rPr>
                      <a:rPr lang="es-ES"/>
                      <m:t>nm</m:t>
                    </m:r>
                  </m:oMath>
                </a14:m>
                <a:r>
                  <a:rPr lang="es-ES" dirty="0"/>
                  <a:t> frente a </a:t>
                </a:r>
                <a14:m>
                  <m:oMath xmlns:m="http://schemas.openxmlformats.org/officeDocument/2006/math">
                    <m:r>
                      <a:rPr lang="es-ES" i="1"/>
                      <m:t>𝑤</m:t>
                    </m:r>
                    <m:r>
                      <a:rPr lang="es-ES"/>
                      <m:t>≥600 </m:t>
                    </m:r>
                    <m:r>
                      <m:rPr>
                        <m:nor/>
                      </m:rPr>
                      <a:rPr lang="es-ES"/>
                      <m:t>nm</m:t>
                    </m:r>
                  </m:oMath>
                </a14:m>
                <a:r>
                  <a:rPr lang="es-ES" dirty="0"/>
                  <a:t>), lo que favorece el confinamiento de la componente de campo eléctrico orientada horizontalmente. </a:t>
                </a: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82A62DD6-5488-72A1-9926-0CAEE5908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39" y="1447800"/>
                <a:ext cx="11199971" cy="3381182"/>
              </a:xfrm>
              <a:prstGeom prst="rect">
                <a:avLst/>
              </a:prstGeom>
              <a:blipFill>
                <a:blip r:embed="rId4"/>
                <a:stretch>
                  <a:fillRect l="-326" t="-716" r="-651"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011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A0F9-B230-D9FC-3CE7-03BD08CF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94400B4-EE16-8E85-AB54-E82FE3B29345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500" dirty="0"/>
                  <a:t>Learning outcome #3 – Waveguide compact model</a:t>
                </a:r>
                <a:br>
                  <a:rPr lang="en-US" sz="2500" spc="-5" dirty="0">
                    <a:latin typeface="+mj-lt"/>
                    <a:cs typeface="Lucida Sans"/>
                  </a:rPr>
                </a:br>
                <a:r>
                  <a:rPr lang="en-US" b="0" dirty="0"/>
                  <a:t>Let’s model the waveguide using a second order polynomial: </a:t>
                </a:r>
                <a:br>
                  <a:rPr lang="en-US" b="0" dirty="0"/>
                </a:b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b="0" dirty="0"/>
                </a:br>
                <a:endParaRPr lang="en-US" sz="2500" b="0" dirty="0">
                  <a:latin typeface="+mj-lt"/>
                  <a:cs typeface="Lucida Sans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94400B4-EE16-8E85-AB54-E82FE3B2934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  <a:blipFill>
                <a:blip r:embed="rId3"/>
                <a:stretch>
                  <a:fillRect l="-1664" t="-7386"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Gráfico 82">
            <a:extLst>
              <a:ext uri="{FF2B5EF4-FFF2-40B4-BE49-F238E27FC236}">
                <a16:creationId xmlns:a16="http://schemas.microsoft.com/office/drawing/2014/main" id="{4D53B68D-17ED-7EFB-F2B4-10DA7A772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9AB8697-C1EE-6E9A-6550-ACA2C3AE66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0D4A6C-5B37-EDF5-6242-74B16127E96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/>
              <p:nvPr/>
            </p:nvSpPr>
            <p:spPr>
              <a:xfrm>
                <a:off x="609441" y="4860334"/>
                <a:ext cx="11198542" cy="19518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ES" sz="1300" dirty="0"/>
                  <a:t>A partir del ajuste polinómico de segundo grado centrado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300" i="1"/>
                        </m:ctrlPr>
                      </m:sSubPr>
                      <m:e>
                        <m:r>
                          <a:rPr lang="es-ES" sz="1300" i="1"/>
                          <m:t>𝜆</m:t>
                        </m:r>
                      </m:e>
                      <m:sub>
                        <m:r>
                          <a:rPr lang="es-ES" sz="1300"/>
                          <m:t>0</m:t>
                        </m:r>
                      </m:sub>
                    </m:sSub>
                    <m:r>
                      <a:rPr lang="es-ES" sz="1300"/>
                      <m:t>=1.55 </m:t>
                    </m:r>
                    <m:r>
                      <a:rPr lang="es-ES" sz="1300" i="1"/>
                      <m:t>𝜇</m:t>
                    </m:r>
                    <m:r>
                      <m:rPr>
                        <m:nor/>
                      </m:rPr>
                      <a:rPr lang="es-ES" sz="1300"/>
                      <m:t>m</m:t>
                    </m:r>
                  </m:oMath>
                </a14:m>
                <a:r>
                  <a:rPr lang="es-ES" sz="1300" dirty="0"/>
                  <a:t>, definido 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300" i="1"/>
                        </m:ctrlPr>
                      </m:sSubPr>
                      <m:e>
                        <m:r>
                          <a:rPr lang="es-ES" sz="1300" i="1"/>
                          <m:t>𝑛</m:t>
                        </m:r>
                      </m:e>
                      <m:sub>
                        <m:r>
                          <m:rPr>
                            <m:nor/>
                          </m:rPr>
                          <a:rPr lang="es-ES" sz="1300"/>
                          <m:t>eff</m:t>
                        </m:r>
                      </m:sub>
                    </m:sSub>
                    <m:d>
                      <m:dPr>
                        <m:ctrlPr>
                          <a:rPr lang="es-ES" sz="1300" i="1"/>
                        </m:ctrlPr>
                      </m:dPr>
                      <m:e>
                        <m:r>
                          <a:rPr lang="es-ES" sz="1300" i="1"/>
                          <m:t>𝜆</m:t>
                        </m:r>
                      </m:e>
                    </m:d>
                    <m:r>
                      <a:rPr lang="es-ES" sz="1300"/>
                      <m:t>=</m:t>
                    </m:r>
                    <m:sSub>
                      <m:sSubPr>
                        <m:ctrlPr>
                          <a:rPr lang="es-ES" sz="1300" i="1"/>
                        </m:ctrlPr>
                      </m:sSubPr>
                      <m:e>
                        <m:r>
                          <a:rPr lang="es-ES" sz="1300" i="1"/>
                          <m:t>𝑛</m:t>
                        </m:r>
                      </m:e>
                      <m:sub>
                        <m:r>
                          <a:rPr lang="es-ES" sz="1300"/>
                          <m:t>1</m:t>
                        </m:r>
                      </m:sub>
                    </m:sSub>
                    <m:r>
                      <a:rPr lang="es-ES" sz="1300"/>
                      <m:t>+</m:t>
                    </m:r>
                    <m:sSub>
                      <m:sSubPr>
                        <m:ctrlPr>
                          <a:rPr lang="es-ES" sz="1300" i="1"/>
                        </m:ctrlPr>
                      </m:sSubPr>
                      <m:e>
                        <m:r>
                          <a:rPr lang="es-ES" sz="1300" i="1"/>
                          <m:t>𝑛</m:t>
                        </m:r>
                      </m:e>
                      <m:sub>
                        <m:r>
                          <a:rPr lang="es-ES" sz="1300"/>
                          <m:t>2</m:t>
                        </m:r>
                      </m:sub>
                    </m:sSub>
                    <m:d>
                      <m:dPr>
                        <m:ctrlPr>
                          <a:rPr lang="es-ES" sz="1300" i="1"/>
                        </m:ctrlPr>
                      </m:dPr>
                      <m:e>
                        <m:r>
                          <a:rPr lang="es-ES" sz="1300" i="1"/>
                          <m:t>𝜆</m:t>
                        </m:r>
                        <m:r>
                          <a:rPr lang="es-ES" sz="1300"/>
                          <m:t>−</m:t>
                        </m:r>
                        <m:sSub>
                          <m:sSubPr>
                            <m:ctrlPr>
                              <a:rPr lang="es-ES" sz="1300" i="1"/>
                            </m:ctrlPr>
                          </m:sSubPr>
                          <m:e>
                            <m:r>
                              <a:rPr lang="es-ES" sz="1300" i="1"/>
                              <m:t>𝜆</m:t>
                            </m:r>
                          </m:e>
                          <m:sub>
                            <m:r>
                              <a:rPr lang="es-ES" sz="1300"/>
                              <m:t>0</m:t>
                            </m:r>
                          </m:sub>
                        </m:sSub>
                      </m:e>
                    </m:d>
                    <m:r>
                      <a:rPr lang="es-ES" sz="1300"/>
                      <m:t>+</m:t>
                    </m:r>
                    <m:sSub>
                      <m:sSubPr>
                        <m:ctrlPr>
                          <a:rPr lang="es-ES" sz="1300" i="1"/>
                        </m:ctrlPr>
                      </m:sSubPr>
                      <m:e>
                        <m:r>
                          <a:rPr lang="es-ES" sz="1300" i="1"/>
                          <m:t>𝑛</m:t>
                        </m:r>
                      </m:e>
                      <m:sub>
                        <m:r>
                          <a:rPr lang="es-ES" sz="1300"/>
                          <m:t>3</m:t>
                        </m:r>
                      </m:sub>
                    </m:sSub>
                    <m:sSup>
                      <m:sSupPr>
                        <m:ctrlPr>
                          <a:rPr lang="es-ES" sz="1300" i="1"/>
                        </m:ctrlPr>
                      </m:sSupPr>
                      <m:e>
                        <m:d>
                          <m:dPr>
                            <m:ctrlPr>
                              <a:rPr lang="es-ES" sz="1300" i="1"/>
                            </m:ctrlPr>
                          </m:dPr>
                          <m:e>
                            <m:r>
                              <a:rPr lang="es-ES" sz="1300" i="1"/>
                              <m:t>𝜆</m:t>
                            </m:r>
                            <m:r>
                              <a:rPr lang="es-ES" sz="1300"/>
                              <m:t>−</m:t>
                            </m:r>
                            <m:sSub>
                              <m:sSubPr>
                                <m:ctrlPr>
                                  <a:rPr lang="es-ES" sz="1300" i="1"/>
                                </m:ctrlPr>
                              </m:sSubPr>
                              <m:e>
                                <m:r>
                                  <a:rPr lang="es-ES" sz="1300" i="1"/>
                                  <m:t>𝜆</m:t>
                                </m:r>
                              </m:e>
                              <m:sub>
                                <m:r>
                                  <a:rPr lang="es-ES" sz="1300"/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s-ES" sz="1300"/>
                          <m:t>2</m:t>
                        </m:r>
                      </m:sup>
                    </m:sSup>
                  </m:oMath>
                </a14:m>
                <a:r>
                  <a:rPr lang="es-ES" sz="1300" dirty="0"/>
                  <a:t>, se relacionan directamente el término independiente con el índice efectivo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300" i="1"/>
                        </m:ctrlPr>
                      </m:sSubPr>
                      <m:e>
                        <m:r>
                          <a:rPr lang="es-ES" sz="1300" i="1"/>
                          <m:t>𝑛</m:t>
                        </m:r>
                      </m:e>
                      <m:sub>
                        <m:r>
                          <m:rPr>
                            <m:nor/>
                          </m:rPr>
                          <a:rPr lang="es-ES" sz="1300"/>
                          <m:t>eff</m:t>
                        </m:r>
                      </m:sub>
                    </m:sSub>
                    <m:d>
                      <m:dPr>
                        <m:ctrlPr>
                          <a:rPr lang="es-ES" sz="1300" i="1"/>
                        </m:ctrlPr>
                      </m:dPr>
                      <m:e>
                        <m:sSub>
                          <m:sSubPr>
                            <m:ctrlPr>
                              <a:rPr lang="es-ES" sz="1300" i="1"/>
                            </m:ctrlPr>
                          </m:sSubPr>
                          <m:e>
                            <m:r>
                              <a:rPr lang="es-ES" sz="1300" i="1"/>
                              <m:t>𝜆</m:t>
                            </m:r>
                          </m:e>
                          <m:sub>
                            <m:r>
                              <a:rPr lang="es-ES" sz="1300"/>
                              <m:t>0</m:t>
                            </m:r>
                          </m:sub>
                        </m:sSub>
                      </m:e>
                    </m:d>
                    <m:r>
                      <a:rPr lang="es-ES" sz="1300"/>
                      <m:t>=</m:t>
                    </m:r>
                    <m:sSub>
                      <m:sSubPr>
                        <m:ctrlPr>
                          <a:rPr lang="es-ES" sz="1300" i="1"/>
                        </m:ctrlPr>
                      </m:sSubPr>
                      <m:e>
                        <m:r>
                          <a:rPr lang="es-ES" sz="1300" i="1"/>
                          <m:t>𝑛</m:t>
                        </m:r>
                      </m:e>
                      <m:sub>
                        <m:r>
                          <a:rPr lang="es-ES" sz="1300"/>
                          <m:t>1</m:t>
                        </m:r>
                      </m:sub>
                    </m:sSub>
                  </m:oMath>
                </a14:m>
                <a:r>
                  <a:rPr lang="es-ES" sz="1300" dirty="0"/>
                  <a:t>), la pendiente lineal con el índice de grupo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300" i="1"/>
                        </m:ctrlPr>
                      </m:sSubPr>
                      <m:e>
                        <m:r>
                          <a:rPr lang="es-ES" sz="1300" i="1"/>
                          <m:t>𝑛</m:t>
                        </m:r>
                      </m:e>
                      <m:sub>
                        <m:r>
                          <a:rPr lang="es-ES" sz="1300" i="1"/>
                          <m:t>𝑔</m:t>
                        </m:r>
                      </m:sub>
                    </m:sSub>
                    <m:d>
                      <m:dPr>
                        <m:ctrlPr>
                          <a:rPr lang="es-ES" sz="1300" i="1"/>
                        </m:ctrlPr>
                      </m:dPr>
                      <m:e>
                        <m:sSub>
                          <m:sSubPr>
                            <m:ctrlPr>
                              <a:rPr lang="es-ES" sz="1300" i="1"/>
                            </m:ctrlPr>
                          </m:sSubPr>
                          <m:e>
                            <m:r>
                              <a:rPr lang="es-ES" sz="1300" i="1"/>
                              <m:t>𝜆</m:t>
                            </m:r>
                          </m:e>
                          <m:sub>
                            <m:r>
                              <a:rPr lang="es-ES" sz="1300"/>
                              <m:t>0</m:t>
                            </m:r>
                          </m:sub>
                        </m:sSub>
                      </m:e>
                    </m:d>
                    <m:r>
                      <a:rPr lang="es-ES" sz="1300"/>
                      <m:t>=</m:t>
                    </m:r>
                    <m:sSub>
                      <m:sSubPr>
                        <m:ctrlPr>
                          <a:rPr lang="es-ES" sz="1300" i="1"/>
                        </m:ctrlPr>
                      </m:sSubPr>
                      <m:e>
                        <m:r>
                          <a:rPr lang="es-ES" sz="1300" i="1"/>
                          <m:t>𝑛</m:t>
                        </m:r>
                      </m:e>
                      <m:sub>
                        <m:r>
                          <a:rPr lang="es-ES" sz="1300"/>
                          <m:t>1</m:t>
                        </m:r>
                      </m:sub>
                    </m:sSub>
                    <m:r>
                      <a:rPr lang="es-ES" sz="1300"/>
                      <m:t>−</m:t>
                    </m:r>
                    <m:sSub>
                      <m:sSubPr>
                        <m:ctrlPr>
                          <a:rPr lang="es-ES" sz="1300" i="1"/>
                        </m:ctrlPr>
                      </m:sSubPr>
                      <m:e>
                        <m:r>
                          <a:rPr lang="es-ES" sz="1300" i="1"/>
                          <m:t>𝑛</m:t>
                        </m:r>
                      </m:e>
                      <m:sub>
                        <m:r>
                          <a:rPr lang="es-ES" sz="1300"/>
                          <m:t>2</m:t>
                        </m:r>
                      </m:sub>
                    </m:sSub>
                    <m:sSub>
                      <m:sSubPr>
                        <m:ctrlPr>
                          <a:rPr lang="es-ES" sz="1300" i="1"/>
                        </m:ctrlPr>
                      </m:sSubPr>
                      <m:e>
                        <m:r>
                          <a:rPr lang="es-ES" sz="1300" i="1"/>
                          <m:t>𝜆</m:t>
                        </m:r>
                      </m:e>
                      <m:sub>
                        <m:r>
                          <a:rPr lang="es-ES" sz="1300"/>
                          <m:t>0</m:t>
                        </m:r>
                      </m:sub>
                    </m:sSub>
                  </m:oMath>
                </a14:m>
                <a:r>
                  <a:rPr lang="es-ES" sz="1300" dirty="0"/>
                  <a:t>) y la curvatura cuadrática con el parámetro de dispersión (</a:t>
                </a:r>
                <a14:m>
                  <m:oMath xmlns:m="http://schemas.openxmlformats.org/officeDocument/2006/math">
                    <m:r>
                      <a:rPr lang="es-ES" sz="1300" i="1"/>
                      <m:t>𝐷</m:t>
                    </m:r>
                    <m:r>
                      <a:rPr lang="es-ES" sz="1300"/>
                      <m:t>=−2</m:t>
                    </m:r>
                    <m:sSub>
                      <m:sSubPr>
                        <m:ctrlPr>
                          <a:rPr lang="es-ES" sz="1300" i="1"/>
                        </m:ctrlPr>
                      </m:sSubPr>
                      <m:e>
                        <m:r>
                          <a:rPr lang="es-ES" sz="1300" i="1"/>
                          <m:t>𝜆</m:t>
                        </m:r>
                      </m:e>
                      <m:sub>
                        <m:r>
                          <a:rPr lang="es-ES" sz="1300"/>
                          <m:t>0</m:t>
                        </m:r>
                      </m:sub>
                    </m:sSub>
                    <m:sSub>
                      <m:sSubPr>
                        <m:ctrlPr>
                          <a:rPr lang="es-ES" sz="1300" i="1"/>
                        </m:ctrlPr>
                      </m:sSubPr>
                      <m:e>
                        <m:r>
                          <a:rPr lang="es-ES" sz="1300" i="1"/>
                          <m:t>𝑛</m:t>
                        </m:r>
                      </m:e>
                      <m:sub>
                        <m:r>
                          <a:rPr lang="es-ES" sz="1300"/>
                          <m:t>3</m:t>
                        </m:r>
                      </m:sub>
                    </m:sSub>
                    <m:r>
                      <a:rPr lang="es-ES" sz="1300"/>
                      <m:t>/</m:t>
                    </m:r>
                    <m:r>
                      <a:rPr lang="es-ES" sz="1300" i="1"/>
                      <m:t>𝑐</m:t>
                    </m:r>
                  </m:oMath>
                </a14:m>
                <a:r>
                  <a:rPr lang="es-ES" sz="1300" dirty="0"/>
                  <a:t>).</a:t>
                </a:r>
              </a:p>
              <a:p>
                <a:pPr algn="just"/>
                <a:endParaRPr lang="es-ES" sz="13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s-ES" sz="1300" dirty="0"/>
                  <a:t>Al comparar ambas geometrías, la presencia del </a:t>
                </a:r>
                <a:r>
                  <a:rPr lang="es-ES" sz="1300" dirty="0" err="1"/>
                  <a:t>slab</a:t>
                </a:r>
                <a:r>
                  <a:rPr lang="es-ES" sz="1300" dirty="0"/>
                  <a:t> de </a:t>
                </a:r>
                <a14:m>
                  <m:oMath xmlns:m="http://schemas.openxmlformats.org/officeDocument/2006/math">
                    <m:r>
                      <a:rPr lang="es-ES" sz="1300"/>
                      <m:t>150 </m:t>
                    </m:r>
                    <m:r>
                      <m:rPr>
                        <m:nor/>
                      </m:rPr>
                      <a:rPr lang="es-ES" sz="1300"/>
                      <m:t>nm</m:t>
                    </m:r>
                    <m:r>
                      <m:rPr>
                        <m:nor/>
                      </m:rPr>
                      <a:rPr lang="es-ES" sz="1300" b="0" i="0" smtClean="0"/>
                      <m:t> </m:t>
                    </m:r>
                  </m:oMath>
                </a14:m>
                <a:r>
                  <a:rPr lang="es-ES" sz="1300" dirty="0"/>
                  <a:t>en la guía </a:t>
                </a:r>
                <a:r>
                  <a:rPr lang="es-ES" sz="1300" i="1" dirty="0" err="1"/>
                  <a:t>shallow</a:t>
                </a:r>
                <a:r>
                  <a:rPr lang="es-ES" sz="1300" dirty="0"/>
                  <a:t> incrementa el volumen efectivo de material de alto índice circundante, lo que eleva el índice efectivo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300" i="1"/>
                        </m:ctrlPr>
                      </m:sSubPr>
                      <m:e>
                        <m:r>
                          <a:rPr lang="es-ES" sz="1300" i="1"/>
                          <m:t>𝑛</m:t>
                        </m:r>
                      </m:e>
                      <m:sub>
                        <m:r>
                          <a:rPr lang="es-ES" sz="1300"/>
                          <m:t>1</m:t>
                        </m:r>
                      </m:sub>
                    </m:sSub>
                  </m:oMath>
                </a14:m>
                <a:r>
                  <a:rPr lang="es-ES" sz="1300" dirty="0"/>
                  <a:t>tanto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300"/>
                        </m:ctrlPr>
                      </m:sSubPr>
                      <m:e>
                        <m:r>
                          <m:rPr>
                            <m:nor/>
                          </m:rPr>
                          <a:rPr lang="es-ES" sz="1300"/>
                          <m:t>TE</m:t>
                        </m:r>
                      </m:e>
                      <m:sub>
                        <m:r>
                          <a:rPr lang="es-ES" sz="1300"/>
                          <m:t>0</m:t>
                        </m:r>
                      </m:sub>
                    </m:sSub>
                  </m:oMath>
                </a14:m>
                <a:r>
                  <a:rPr lang="es-ES" sz="1300" dirty="0"/>
                  <a:t>como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300"/>
                        </m:ctrlPr>
                      </m:sSubPr>
                      <m:e>
                        <m:r>
                          <m:rPr>
                            <m:nor/>
                          </m:rPr>
                          <a:rPr lang="es-ES" sz="1300"/>
                          <m:t>TM</m:t>
                        </m:r>
                      </m:e>
                      <m:sub>
                        <m:r>
                          <a:rPr lang="es-ES" sz="1300"/>
                          <m:t>0</m:t>
                        </m:r>
                      </m:sub>
                    </m:sSub>
                  </m:oMath>
                </a14:m>
                <a:r>
                  <a:rPr lang="es-ES" sz="1300" dirty="0"/>
                  <a:t>en comparación con la guía </a:t>
                </a:r>
                <a:r>
                  <a:rPr lang="es-ES" sz="1300" i="1" dirty="0" err="1"/>
                  <a:t>deep</a:t>
                </a:r>
                <a:r>
                  <a:rPr lang="es-ES" sz="1300" dirty="0"/>
                  <a:t>. En ambos tipos de guía, el modo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300"/>
                        </m:ctrlPr>
                      </m:sSubPr>
                      <m:e>
                        <m:r>
                          <m:rPr>
                            <m:nor/>
                          </m:rPr>
                          <a:rPr lang="es-ES" sz="1300"/>
                          <m:t>TE</m:t>
                        </m:r>
                      </m:e>
                      <m:sub>
                        <m:r>
                          <a:rPr lang="es-ES" sz="1300"/>
                          <m:t>0</m:t>
                        </m:r>
                      </m:sub>
                    </m:sSub>
                  </m:oMath>
                </a14:m>
                <a:r>
                  <a:rPr lang="es-ES" sz="1300" dirty="0"/>
                  <a:t>exhibe un mayor confinamiento y un índice de grupo superior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300" i="1"/>
                        </m:ctrlPr>
                      </m:sSubPr>
                      <m:e>
                        <m:r>
                          <a:rPr lang="es-ES" sz="1300" i="1"/>
                          <m:t>𝑛</m:t>
                        </m:r>
                      </m:e>
                      <m:sub>
                        <m:r>
                          <a:rPr lang="es-ES" sz="1300" i="1"/>
                          <m:t>𝑔</m:t>
                        </m:r>
                      </m:sub>
                    </m:sSub>
                    <m:r>
                      <a:rPr lang="es-ES" sz="1300"/>
                      <m:t>≈1.92−1.94</m:t>
                    </m:r>
                  </m:oMath>
                </a14:m>
                <a:r>
                  <a:rPr lang="es-ES" sz="1300" dirty="0"/>
                  <a:t>) frente al modo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300"/>
                        </m:ctrlPr>
                      </m:sSubPr>
                      <m:e>
                        <m:r>
                          <m:rPr>
                            <m:nor/>
                          </m:rPr>
                          <a:rPr lang="es-ES" sz="1300"/>
                          <m:t>TM</m:t>
                        </m:r>
                      </m:e>
                      <m:sub>
                        <m:r>
                          <a:rPr lang="es-ES" sz="1300"/>
                          <m:t>0</m:t>
                        </m:r>
                      </m:sub>
                    </m:sSub>
                  </m:oMath>
                </a14:m>
                <a:r>
                  <a:rPr lang="es-ES" sz="13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300" i="1"/>
                        </m:ctrlPr>
                      </m:sSubPr>
                      <m:e>
                        <m:r>
                          <a:rPr lang="es-ES" sz="1300" i="1"/>
                          <m:t>𝑛</m:t>
                        </m:r>
                      </m:e>
                      <m:sub>
                        <m:r>
                          <a:rPr lang="es-ES" sz="1300" i="1"/>
                          <m:t>𝑔</m:t>
                        </m:r>
                      </m:sub>
                    </m:sSub>
                    <m:r>
                      <a:rPr lang="es-ES" sz="1300"/>
                      <m:t>≈1.75−1.77</m:t>
                    </m:r>
                  </m:oMath>
                </a14:m>
                <a:r>
                  <a:rPr lang="es-ES" sz="1300" dirty="0"/>
                  <a:t>), reflejando una mayor densidad óptica y retardo de propagación para el campo transversal eléctrico horizontal. Por su parte, la polarización TM presenta una derivada segunda más acusada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300" i="1"/>
                        </m:ctrlPr>
                      </m:sSubPr>
                      <m:e>
                        <m:r>
                          <a:rPr lang="es-ES" sz="1300" i="1"/>
                          <m:t>𝑛</m:t>
                        </m:r>
                      </m:e>
                      <m:sub>
                        <m:r>
                          <a:rPr lang="es-ES" sz="1300"/>
                          <m:t>3</m:t>
                        </m:r>
                      </m:sub>
                    </m:sSub>
                  </m:oMath>
                </a14:m>
                <a:r>
                  <a:rPr lang="es-ES" sz="1300" dirty="0"/>
                  <a:t> más elevado), lo que se traduce en un parámetro de dispersión </a:t>
                </a:r>
                <a14:m>
                  <m:oMath xmlns:m="http://schemas.openxmlformats.org/officeDocument/2006/math">
                    <m:r>
                      <a:rPr lang="es-ES" sz="1300" i="1"/>
                      <m:t>𝐷</m:t>
                    </m:r>
                  </m:oMath>
                </a14:m>
                <a:r>
                  <a:rPr lang="es-ES" sz="1300" dirty="0"/>
                  <a:t>más negativo y, por tanto, en una mayor sensibilidad cromática de segundo orden frente a las variaciones de longitud de onda.</a:t>
                </a:r>
                <a:endParaRPr lang="en-US" sz="13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" y="4860334"/>
                <a:ext cx="11198542" cy="1951816"/>
              </a:xfrm>
              <a:prstGeom prst="rect">
                <a:avLst/>
              </a:prstGeom>
              <a:blipFill>
                <a:blip r:embed="rId5"/>
                <a:stretch>
                  <a:fillRect b="-923"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A6B92C76-6772-2E00-346F-532321092C04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86628E-6E58-1F7E-B6C6-432B9A228397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F500B3-B04D-F8EC-2597-DF4AF15D2D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" y="1586644"/>
            <a:ext cx="3899329" cy="309117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BCBE8C3-CF99-0568-B744-73AD856C23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1516191"/>
            <a:ext cx="4038600" cy="320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4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Bend waveguide radius vs. loss – deep</a:t>
            </a:r>
            <a:br>
              <a:rPr lang="en-US" sz="2500" dirty="0"/>
            </a:br>
            <a:r>
              <a:rPr lang="en-US" b="0" dirty="0"/>
              <a:t>Find  neff_TE0 for </a:t>
            </a:r>
            <a:r>
              <a:rPr lang="en-US" b="0" dirty="0" err="1"/>
              <a:t>wvl</a:t>
            </a:r>
            <a:r>
              <a:rPr lang="en-US" b="0" dirty="0"/>
              <a:t> 1.55 µm, width 1.0 µm for R=25,50,75,100, 125,150 µm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FDE3A197-9508-F9F1-1FEB-FF883D78C151}"/>
                  </a:ext>
                </a:extLst>
              </p:cNvPr>
              <p:cNvSpPr txBox="1"/>
              <p:nvPr/>
            </p:nvSpPr>
            <p:spPr>
              <a:xfrm>
                <a:off x="609441" y="4860334"/>
                <a:ext cx="11199971" cy="14927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ES" sz="1300" dirty="0"/>
                  <a:t>Para radios pequeños (</a:t>
                </a:r>
                <a14:m>
                  <m:oMath xmlns:m="http://schemas.openxmlformats.org/officeDocument/2006/math">
                    <m:r>
                      <a:rPr lang="es-ES" sz="1300" i="1"/>
                      <m:t>𝑅</m:t>
                    </m:r>
                    <m:r>
                      <a:rPr lang="es-ES" sz="1300"/>
                      <m:t>&lt;50 </m:t>
                    </m:r>
                    <m:r>
                      <a:rPr lang="es-ES" sz="1300" i="1"/>
                      <m:t>𝜇</m:t>
                    </m:r>
                    <m:r>
                      <m:rPr>
                        <m:nor/>
                      </m:rPr>
                      <a:rPr lang="es-ES" sz="1300"/>
                      <m:t>m</m:t>
                    </m:r>
                  </m:oMath>
                </a14:m>
                <a:r>
                  <a:rPr lang="es-ES" sz="1300" dirty="0"/>
                  <a:t>), hay perdidas elevadas. Por el contrario, a medida que el radio se incrementa por encima de los </a:t>
                </a:r>
                <a14:m>
                  <m:oMath xmlns:m="http://schemas.openxmlformats.org/officeDocument/2006/math">
                    <m:r>
                      <a:rPr lang="es-ES" sz="1300"/>
                      <m:t>75 </m:t>
                    </m:r>
                    <m:r>
                      <a:rPr lang="es-ES" sz="1300" i="1"/>
                      <m:t>𝜇</m:t>
                    </m:r>
                    <m:r>
                      <m:rPr>
                        <m:nor/>
                      </m:rPr>
                      <a:rPr lang="es-ES" sz="1300"/>
                      <m:t>m</m:t>
                    </m:r>
                  </m:oMath>
                </a14:m>
                <a:r>
                  <a:rPr lang="es-ES" sz="1300" dirty="0"/>
                  <a:t>, el desajuste modal se hace despreciable y el balance total pasa a estar dominado linealmente por la longitud física de la curva y sus pérdidas de propagación. </a:t>
                </a:r>
              </a:p>
              <a:p>
                <a:r>
                  <a:rPr lang="es-ES" sz="1300" dirty="0"/>
                  <a:t>Bajo el criterio de diseño de </a:t>
                </a:r>
                <a:r>
                  <a:rPr lang="es-ES" sz="1300" b="1" dirty="0"/>
                  <a:t>radio seguro</a:t>
                </a:r>
                <a:r>
                  <a:rPr lang="es-ES" sz="1300" dirty="0"/>
                  <a:t>, definido como el radio mínimo que mantiene las pérdidas totales por debajo del umbral de </a:t>
                </a:r>
                <a14:m>
                  <m:oMath xmlns:m="http://schemas.openxmlformats.org/officeDocument/2006/math">
                    <m:r>
                      <a:rPr lang="es-ES" sz="1300"/>
                      <m:t>0.1 </m:t>
                    </m:r>
                    <m:r>
                      <m:rPr>
                        <m:nor/>
                      </m:rPr>
                      <a:rPr lang="es-ES" sz="1300"/>
                      <m:t>dB</m:t>
                    </m:r>
                    <m:r>
                      <a:rPr lang="es-ES" sz="1300"/>
                      <m:t>/</m:t>
                    </m:r>
                    <m:sSup>
                      <m:sSupPr>
                        <m:ctrlPr>
                          <a:rPr lang="es-ES" sz="1300"/>
                        </m:ctrlPr>
                      </m:sSupPr>
                      <m:e>
                        <m:r>
                          <a:rPr lang="es-ES" sz="1300"/>
                          <m:t>90</m:t>
                        </m:r>
                      </m:e>
                      <m:sup>
                        <m:r>
                          <a:rPr lang="es-ES" sz="1300"/>
                          <m:t>∘</m:t>
                        </m:r>
                      </m:sup>
                    </m:sSup>
                  </m:oMath>
                </a14:m>
                <a:r>
                  <a:rPr lang="es-ES" sz="1300" dirty="0"/>
                  <a:t>, la curva total satisface esta condición para cualquier radio </a:t>
                </a:r>
                <a14:m>
                  <m:oMath xmlns:m="http://schemas.openxmlformats.org/officeDocument/2006/math">
                    <m:r>
                      <a:rPr lang="es-ES" sz="1300" i="1"/>
                      <m:t>𝑅</m:t>
                    </m:r>
                    <m:r>
                      <a:rPr lang="es-ES" sz="1300"/>
                      <m:t>≥50 </m:t>
                    </m:r>
                    <m:r>
                      <a:rPr lang="es-ES" sz="1300" i="1"/>
                      <m:t>𝜇</m:t>
                    </m:r>
                    <m:r>
                      <m:rPr>
                        <m:nor/>
                      </m:rPr>
                      <a:rPr lang="es-ES" sz="1300"/>
                      <m:t>m</m:t>
                    </m:r>
                  </m:oMath>
                </a14:m>
                <a:r>
                  <a:rPr lang="es-ES" sz="1300" dirty="0"/>
                  <a:t>. Dentro de esta región segura, la curva de pérdidas totales alcanza un </a:t>
                </a:r>
                <a:r>
                  <a:rPr lang="es-ES" sz="1300" b="1" dirty="0"/>
                  <a:t>mínimo global en </a:t>
                </a:r>
                <a14:m>
                  <m:oMath xmlns:m="http://schemas.openxmlformats.org/officeDocument/2006/math">
                    <m:r>
                      <a:rPr lang="es-ES" sz="1300" i="1"/>
                      <m:t>𝑅</m:t>
                    </m:r>
                    <m:r>
                      <a:rPr lang="es-ES" sz="1300"/>
                      <m:t>=86.0 </m:t>
                    </m:r>
                    <m:r>
                      <a:rPr lang="es-ES" sz="1300" i="1"/>
                      <m:t>𝜇</m:t>
                    </m:r>
                    <m:r>
                      <m:rPr>
                        <m:nor/>
                      </m:rPr>
                      <a:rPr lang="es-ES" sz="1300"/>
                      <m:t>m</m:t>
                    </m:r>
                  </m:oMath>
                </a14:m>
                <a:r>
                  <a:rPr lang="es-ES" sz="1300" dirty="0"/>
                  <a:t>, registrando una atenuación de apenas </a:t>
                </a:r>
                <a14:m>
                  <m:oMath xmlns:m="http://schemas.openxmlformats.org/officeDocument/2006/math">
                    <m:r>
                      <a:rPr lang="es-ES" sz="1300"/>
                      <m:t>0.0329 </m:t>
                    </m:r>
                    <m:r>
                      <m:rPr>
                        <m:nor/>
                      </m:rPr>
                      <a:rPr lang="es-ES" sz="1300"/>
                      <m:t>dB</m:t>
                    </m:r>
                  </m:oMath>
                </a14:m>
                <a:r>
                  <a:rPr lang="es-ES" sz="1300" dirty="0"/>
                  <a:t>. Por consiguiente, si el objetivo del circuito integrado es maximizar la densidad de empaquetamiento (</a:t>
                </a:r>
                <a:r>
                  <a:rPr lang="es-ES" sz="1300" i="1" dirty="0" err="1"/>
                  <a:t>footprint</a:t>
                </a:r>
                <a:r>
                  <a:rPr lang="es-ES" sz="1300" dirty="0"/>
                  <a:t> reducido), un radio de </a:t>
                </a:r>
                <a14:m>
                  <m:oMath xmlns:m="http://schemas.openxmlformats.org/officeDocument/2006/math">
                    <m:r>
                      <a:rPr lang="es-ES" sz="1300"/>
                      <m:t>50 </m:t>
                    </m:r>
                    <m:r>
                      <a:rPr lang="es-ES" sz="1300" i="1"/>
                      <m:t>𝜇</m:t>
                    </m:r>
                    <m:r>
                      <m:rPr>
                        <m:nor/>
                      </m:rPr>
                      <a:rPr lang="es-ES" sz="1300"/>
                      <m:t>m</m:t>
                    </m:r>
                  </m:oMath>
                </a14:m>
                <a:r>
                  <a:rPr lang="es-ES" sz="1300" dirty="0"/>
                  <a:t>resulta plenamente seguro al cumplir la cota de </a:t>
                </a:r>
                <a14:m>
                  <m:oMath xmlns:m="http://schemas.openxmlformats.org/officeDocument/2006/math">
                    <m:r>
                      <a:rPr lang="es-ES" sz="1300"/>
                      <m:t>0.1 </m:t>
                    </m:r>
                    <m:r>
                      <m:rPr>
                        <m:nor/>
                      </m:rPr>
                      <a:rPr lang="es-ES" sz="1300"/>
                      <m:t>dB</m:t>
                    </m:r>
                  </m:oMath>
                </a14:m>
                <a:r>
                  <a:rPr lang="es-ES" sz="1300" dirty="0"/>
                  <a:t>, mientras que para minimizar la atenuación total acumulada en las etapas de enrutamiento se establece </a:t>
                </a:r>
                <a14:m>
                  <m:oMath xmlns:m="http://schemas.openxmlformats.org/officeDocument/2006/math">
                    <m:r>
                      <a:rPr lang="es-ES" sz="1300" i="1"/>
                      <m:t>𝑅</m:t>
                    </m:r>
                    <m:r>
                      <a:rPr lang="es-ES" sz="1300"/>
                      <m:t>≈86 </m:t>
                    </m:r>
                    <m:r>
                      <a:rPr lang="es-ES" sz="1300" i="1"/>
                      <m:t>𝜇</m:t>
                    </m:r>
                    <m:r>
                      <m:rPr>
                        <m:nor/>
                      </m:rPr>
                      <a:rPr lang="es-ES" sz="1300"/>
                      <m:t>m</m:t>
                    </m:r>
                    <m:r>
                      <m:rPr>
                        <m:nor/>
                      </m:rPr>
                      <a:rPr lang="es-ES" sz="1300" b="0" i="0" smtClean="0"/>
                      <m:t> </m:t>
                    </m:r>
                  </m:oMath>
                </a14:m>
                <a:r>
                  <a:rPr lang="es-ES" sz="1300" dirty="0"/>
                  <a:t>como el punto de operación óptimo. </a:t>
                </a: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FDE3A197-9508-F9F1-1FEB-FF883D78C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" y="4860334"/>
                <a:ext cx="11199971" cy="1492716"/>
              </a:xfrm>
              <a:prstGeom prst="rect">
                <a:avLst/>
              </a:prstGeom>
              <a:blipFill>
                <a:blip r:embed="rId4"/>
                <a:stretch>
                  <a:fillRect b="-1200"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09FBBBB-69CA-B7E5-7176-8227F2788CF5}"/>
                  </a:ext>
                </a:extLst>
              </p:cNvPr>
              <p:cNvSpPr txBox="1"/>
              <p:nvPr/>
            </p:nvSpPr>
            <p:spPr>
              <a:xfrm>
                <a:off x="9941529" y="4179383"/>
                <a:ext cx="1856534" cy="43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["/>
                        <m:endChr m:val="]"/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num>
                          <m:den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90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den>
                        </m:f>
                      </m:e>
                    </m:d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800" b="0" i="0" smtClean="0">
                        <a:latin typeface="Cambria Math" panose="02040503050406030204" pitchFamily="18" charset="0"/>
                      </a:rPr>
                      <m:t>R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sz="18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["/>
                        <m:endChr m:val="]"/>
                        <m:ctrlPr>
                          <a:rPr lang="es-E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num>
                          <m:den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µ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09FBBBB-69CA-B7E5-7176-8227F2788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529" y="4179383"/>
                <a:ext cx="1856534" cy="439608"/>
              </a:xfrm>
              <a:prstGeom prst="rect">
                <a:avLst/>
              </a:prstGeom>
              <a:blipFill>
                <a:blip r:embed="rId5"/>
                <a:stretch>
                  <a:fillRect l="-3289" b="-138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>
            <a:extLst>
              <a:ext uri="{FF2B5EF4-FFF2-40B4-BE49-F238E27FC236}">
                <a16:creationId xmlns:a16="http://schemas.microsoft.com/office/drawing/2014/main" id="{B5FE8755-B0BF-14B7-64E6-4BBB2560B9A6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4017A7-C995-E877-0983-D18C569CDF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280155"/>
            <a:ext cx="4972734" cy="33388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05D197F-9E89-6831-EF0F-8BCE26E33E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6166" y="1376238"/>
            <a:ext cx="4898397" cy="331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869</TotalTime>
  <Words>1016</Words>
  <Application>Microsoft Office PowerPoint</Application>
  <PresentationFormat>Panorámica</PresentationFormat>
  <Paragraphs>68</Paragraphs>
  <Slides>8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Convergence tests DE waveguide, w = 1.2 µm, neff_TE0, wvl 1.55 µm. </vt:lpstr>
      <vt:lpstr>Learning outcome #2 – Width dependence Width 0.6 - 1.6 µm (step 0.1 µm) – Wavelength 1.55 µm </vt:lpstr>
      <vt:lpstr>Learning outcome #2 – Width dependence Width 0.6 - 1.6 µm (step 0.1 µm) – Wavelength 1.55 µm </vt:lpstr>
      <vt:lpstr>Learning outcome #3 – Waveguide compact model Let’s model the waveguide using a second order polynomial:  n_eff (λ)=n_1+n_2 (λ-λ_0 )+n_3 (λ-λ_0 )^2 </vt:lpstr>
      <vt:lpstr>Learning outcome #4 – Bend waveguide radius vs. loss – deep Find  neff_TE0 for wvl 1.55 µm, width 1.0 µm for R=25,50,75,100, 125,150 µm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Andrés Sanchez-Toril Bastrygina</cp:lastModifiedBy>
  <cp:revision>8</cp:revision>
  <dcterms:created xsi:type="dcterms:W3CDTF">2025-01-27T02:46:57Z</dcterms:created>
  <dcterms:modified xsi:type="dcterms:W3CDTF">2026-09-18T09:50:49Z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