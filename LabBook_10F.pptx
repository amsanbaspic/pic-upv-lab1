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95" r:id="rId3"/>
    <p:sldId id="290" r:id="rId4"/>
    <p:sldId id="298" r:id="rId5"/>
    <p:sldId id="292" r:id="rId6"/>
    <p:sldId id="297" r:id="rId7"/>
    <p:sldId id="293" r:id="rId8"/>
    <p:sldId id="288" r:id="rId9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659AE7-34AE-4A51-AF77-8DE718DCEEBB}" v="76" dt="2026-09-18T09:50:48.64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538" autoAdjust="0"/>
    <p:restoredTop sz="95033" autoAdjust="0"/>
  </p:normalViewPr>
  <p:slideViewPr>
    <p:cSldViewPr>
      <p:cViewPr varScale="1">
        <p:scale>
          <a:sx n="110" d="100"/>
          <a:sy n="110" d="100"/>
        </p:scale>
        <p:origin x="560" y="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s Sanchez-Toril Bastrygina" userId="3b03b09f-13c0-4e05-819a-d5dea8e09df8" providerId="ADAL" clId="{AB6E9420-9DA3-455F-BCF4-9F7D2E397574}"/>
    <pc:docChg chg="undo custSel addSld modSld sldOrd">
      <pc:chgData name="Andrés Sanchez-Toril Bastrygina" userId="3b03b09f-13c0-4e05-819a-d5dea8e09df8" providerId="ADAL" clId="{AB6E9420-9DA3-455F-BCF4-9F7D2E397574}" dt="2026-09-18T09:50:48.637" v="185" actId="255"/>
      <pc:docMkLst>
        <pc:docMk/>
      </pc:docMkLst>
      <pc:sldChg chg="addSp delSp modSp mod">
        <pc:chgData name="Andrés Sanchez-Toril Bastrygina" userId="3b03b09f-13c0-4e05-819a-d5dea8e09df8" providerId="ADAL" clId="{AB6E9420-9DA3-455F-BCF4-9F7D2E397574}" dt="2026-09-18T09:10:32.800" v="32"/>
        <pc:sldMkLst>
          <pc:docMk/>
          <pc:sldMk cId="0" sldId="256"/>
        </pc:sldMkLst>
        <pc:spChg chg="add del mod">
          <ac:chgData name="Andrés Sanchez-Toril Bastrygina" userId="3b03b09f-13c0-4e05-819a-d5dea8e09df8" providerId="ADAL" clId="{AB6E9420-9DA3-455F-BCF4-9F7D2E397574}" dt="2026-09-18T09:10:32.800" v="32"/>
          <ac:spMkLst>
            <pc:docMk/>
            <pc:sldMk cId="0" sldId="256"/>
            <ac:spMk id="2" creationId="{008F5D8B-4410-F267-0834-2EF1C587C315}"/>
          </ac:spMkLst>
        </pc:spChg>
        <pc:spChg chg="mod">
          <ac:chgData name="Andrés Sanchez-Toril Bastrygina" userId="3b03b09f-13c0-4e05-819a-d5dea8e09df8" providerId="ADAL" clId="{AB6E9420-9DA3-455F-BCF4-9F7D2E397574}" dt="2026-09-18T09:10:29.595" v="30" actId="20577"/>
          <ac:spMkLst>
            <pc:docMk/>
            <pc:sldMk cId="0" sldId="256"/>
            <ac:spMk id="4" creationId="{00000000-0000-0000-0000-000000000000}"/>
          </ac:spMkLst>
        </pc:spChg>
      </pc:sldChg>
      <pc:sldChg chg="addSp modSp mod">
        <pc:chgData name="Andrés Sanchez-Toril Bastrygina" userId="3b03b09f-13c0-4e05-819a-d5dea8e09df8" providerId="ADAL" clId="{AB6E9420-9DA3-455F-BCF4-9F7D2E397574}" dt="2026-09-18T09:28:31.611" v="70" actId="20577"/>
        <pc:sldMkLst>
          <pc:docMk/>
          <pc:sldMk cId="730501311" sldId="290"/>
        </pc:sldMkLst>
        <pc:spChg chg="mod">
          <ac:chgData name="Andrés Sanchez-Toril Bastrygina" userId="3b03b09f-13c0-4e05-819a-d5dea8e09df8" providerId="ADAL" clId="{AB6E9420-9DA3-455F-BCF4-9F7D2E397574}" dt="2026-09-18T09:28:31.611" v="70" actId="20577"/>
          <ac:spMkLst>
            <pc:docMk/>
            <pc:sldMk cId="730501311" sldId="290"/>
            <ac:spMk id="10" creationId="{C814CDD6-2B59-8488-4EB8-82801B4D3F22}"/>
          </ac:spMkLst>
        </pc:spChg>
        <pc:picChg chg="add mod">
          <ac:chgData name="Andrés Sanchez-Toril Bastrygina" userId="3b03b09f-13c0-4e05-819a-d5dea8e09df8" providerId="ADAL" clId="{AB6E9420-9DA3-455F-BCF4-9F7D2E397574}" dt="2026-09-18T09:24:28.061" v="36" actId="1076"/>
          <ac:picMkLst>
            <pc:docMk/>
            <pc:sldMk cId="730501311" sldId="290"/>
            <ac:picMk id="5" creationId="{1CC6EB6E-C676-059F-5899-ED5FB33B3B8B}"/>
          </ac:picMkLst>
        </pc:picChg>
        <pc:picChg chg="add mod">
          <ac:chgData name="Andrés Sanchez-Toril Bastrygina" userId="3b03b09f-13c0-4e05-819a-d5dea8e09df8" providerId="ADAL" clId="{AB6E9420-9DA3-455F-BCF4-9F7D2E397574}" dt="2026-09-18T09:24:51.947" v="42" actId="1076"/>
          <ac:picMkLst>
            <pc:docMk/>
            <pc:sldMk cId="730501311" sldId="290"/>
            <ac:picMk id="7" creationId="{9F78D778-C111-D195-D342-0C70566AF037}"/>
          </ac:picMkLst>
        </pc:picChg>
      </pc:sldChg>
      <pc:sldChg chg="addSp delSp modSp mod ord">
        <pc:chgData name="Andrés Sanchez-Toril Bastrygina" userId="3b03b09f-13c0-4e05-819a-d5dea8e09df8" providerId="ADAL" clId="{AB6E9420-9DA3-455F-BCF4-9F7D2E397574}" dt="2026-09-18T09:33:02.140" v="111" actId="20577"/>
        <pc:sldMkLst>
          <pc:docMk/>
          <pc:sldMk cId="2900117438" sldId="292"/>
        </pc:sldMkLst>
        <pc:spChg chg="mod">
          <ac:chgData name="Andrés Sanchez-Toril Bastrygina" userId="3b03b09f-13c0-4e05-819a-d5dea8e09df8" providerId="ADAL" clId="{AB6E9420-9DA3-455F-BCF4-9F7D2E397574}" dt="2026-09-18T09:33:02.140" v="111" actId="20577"/>
          <ac:spMkLst>
            <pc:docMk/>
            <pc:sldMk cId="2900117438" sldId="292"/>
            <ac:spMk id="2" creationId="{82A62DD6-5488-72A1-9926-0CAEE59089A9}"/>
          </ac:spMkLst>
        </pc:spChg>
        <pc:spChg chg="del">
          <ac:chgData name="Andrés Sanchez-Toril Bastrygina" userId="3b03b09f-13c0-4e05-819a-d5dea8e09df8" providerId="ADAL" clId="{AB6E9420-9DA3-455F-BCF4-9F7D2E397574}" dt="2026-09-18T09:31:41.760" v="84" actId="478"/>
          <ac:spMkLst>
            <pc:docMk/>
            <pc:sldMk cId="2900117438" sldId="292"/>
            <ac:spMk id="7" creationId="{FBC7D187-267A-ADD4-764C-D3820B8ED302}"/>
          </ac:spMkLst>
        </pc:spChg>
        <pc:spChg chg="del">
          <ac:chgData name="Andrés Sanchez-Toril Bastrygina" userId="3b03b09f-13c0-4e05-819a-d5dea8e09df8" providerId="ADAL" clId="{AB6E9420-9DA3-455F-BCF4-9F7D2E397574}" dt="2026-09-18T09:31:36.952" v="83" actId="478"/>
          <ac:spMkLst>
            <pc:docMk/>
            <pc:sldMk cId="2900117438" sldId="292"/>
            <ac:spMk id="8" creationId="{1EF5BFDA-8EC1-8C73-A932-F36C4DB93C73}"/>
          </ac:spMkLst>
        </pc:spChg>
        <pc:picChg chg="add del mod">
          <ac:chgData name="Andrés Sanchez-Toril Bastrygina" userId="3b03b09f-13c0-4e05-819a-d5dea8e09df8" providerId="ADAL" clId="{AB6E9420-9DA3-455F-BCF4-9F7D2E397574}" dt="2026-09-18T09:31:35.031" v="82" actId="478"/>
          <ac:picMkLst>
            <pc:docMk/>
            <pc:sldMk cId="2900117438" sldId="292"/>
            <ac:picMk id="4" creationId="{6100853A-3E2F-526E-FC4F-121BB11CA5DB}"/>
          </ac:picMkLst>
        </pc:picChg>
      </pc:sldChg>
      <pc:sldChg chg="addSp delSp modSp mod">
        <pc:chgData name="Andrés Sanchez-Toril Bastrygina" userId="3b03b09f-13c0-4e05-819a-d5dea8e09df8" providerId="ADAL" clId="{AB6E9420-9DA3-455F-BCF4-9F7D2E397574}" dt="2026-09-18T09:50:48.637" v="185" actId="255"/>
        <pc:sldMkLst>
          <pc:docMk/>
          <pc:sldMk cId="3660438245" sldId="293"/>
        </pc:sldMkLst>
        <pc:spChg chg="mod">
          <ac:chgData name="Andrés Sanchez-Toril Bastrygina" userId="3b03b09f-13c0-4e05-819a-d5dea8e09df8" providerId="ADAL" clId="{AB6E9420-9DA3-455F-BCF4-9F7D2E397574}" dt="2026-09-18T09:50:48.637" v="185" actId="255"/>
          <ac:spMkLst>
            <pc:docMk/>
            <pc:sldMk cId="3660438245" sldId="293"/>
            <ac:spMk id="2" creationId="{FDE3A197-9508-F9F1-1FEB-FF883D78C151}"/>
          </ac:spMkLst>
        </pc:spChg>
        <pc:spChg chg="del">
          <ac:chgData name="Andrés Sanchez-Toril Bastrygina" userId="3b03b09f-13c0-4e05-819a-d5dea8e09df8" providerId="ADAL" clId="{AB6E9420-9DA3-455F-BCF4-9F7D2E397574}" dt="2026-09-18T09:41:51.991" v="148" actId="478"/>
          <ac:spMkLst>
            <pc:docMk/>
            <pc:sldMk cId="3660438245" sldId="293"/>
            <ac:spMk id="8" creationId="{331EBD86-BA6C-68C9-2D38-FC8CFBA7ADC4}"/>
          </ac:spMkLst>
        </pc:spChg>
        <pc:picChg chg="add mod">
          <ac:chgData name="Andrés Sanchez-Toril Bastrygina" userId="3b03b09f-13c0-4e05-819a-d5dea8e09df8" providerId="ADAL" clId="{AB6E9420-9DA3-455F-BCF4-9F7D2E397574}" dt="2026-09-18T09:41:47.064" v="147" actId="1076"/>
          <ac:picMkLst>
            <pc:docMk/>
            <pc:sldMk cId="3660438245" sldId="293"/>
            <ac:picMk id="4" creationId="{5B4017A7-C995-E877-0983-D18C569CDFFD}"/>
          </ac:picMkLst>
        </pc:picChg>
        <pc:picChg chg="add mod">
          <ac:chgData name="Andrés Sanchez-Toril Bastrygina" userId="3b03b09f-13c0-4e05-819a-d5dea8e09df8" providerId="ADAL" clId="{AB6E9420-9DA3-455F-BCF4-9F7D2E397574}" dt="2026-09-18T09:42:04.393" v="152" actId="1076"/>
          <ac:picMkLst>
            <pc:docMk/>
            <pc:sldMk cId="3660438245" sldId="293"/>
            <ac:picMk id="5" creationId="{F05D197F-9E89-6831-EF0F-8BCE26E33EC2}"/>
          </ac:picMkLst>
        </pc:picChg>
      </pc:sldChg>
      <pc:sldChg chg="addSp delSp modSp mod">
        <pc:chgData name="Andrés Sanchez-Toril Bastrygina" userId="3b03b09f-13c0-4e05-819a-d5dea8e09df8" providerId="ADAL" clId="{AB6E9420-9DA3-455F-BCF4-9F7D2E397574}" dt="2026-09-18T09:37:23.198" v="143" actId="20577"/>
        <pc:sldMkLst>
          <pc:docMk/>
          <pc:sldMk cId="236054401" sldId="297"/>
        </pc:sldMkLst>
        <pc:spChg chg="mod">
          <ac:chgData name="Andrés Sanchez-Toril Bastrygina" userId="3b03b09f-13c0-4e05-819a-d5dea8e09df8" providerId="ADAL" clId="{AB6E9420-9DA3-455F-BCF4-9F7D2E397574}" dt="2026-09-18T09:37:23.198" v="143" actId="20577"/>
          <ac:spMkLst>
            <pc:docMk/>
            <pc:sldMk cId="236054401" sldId="297"/>
            <ac:spMk id="2" creationId="{A440F587-93A3-E474-C0B0-883BB9DAFD85}"/>
          </ac:spMkLst>
        </pc:spChg>
        <pc:spChg chg="del">
          <ac:chgData name="Andrés Sanchez-Toril Bastrygina" userId="3b03b09f-13c0-4e05-819a-d5dea8e09df8" providerId="ADAL" clId="{AB6E9420-9DA3-455F-BCF4-9F7D2E397574}" dt="2026-09-18T09:34:51.812" v="132" actId="478"/>
          <ac:spMkLst>
            <pc:docMk/>
            <pc:sldMk cId="236054401" sldId="297"/>
            <ac:spMk id="8" creationId="{0F38E924-A0E7-A039-C837-916BA77FE89B}"/>
          </ac:spMkLst>
        </pc:spChg>
        <pc:spChg chg="del mod">
          <ac:chgData name="Andrés Sanchez-Toril Bastrygina" userId="3b03b09f-13c0-4e05-819a-d5dea8e09df8" providerId="ADAL" clId="{AB6E9420-9DA3-455F-BCF4-9F7D2E397574}" dt="2026-09-18T09:34:23.348" v="118" actId="478"/>
          <ac:spMkLst>
            <pc:docMk/>
            <pc:sldMk cId="236054401" sldId="297"/>
            <ac:spMk id="9" creationId="{C59B6428-4395-242F-54D8-A9FC610F2D7A}"/>
          </ac:spMkLst>
        </pc:spChg>
        <pc:spChg chg="del mod">
          <ac:chgData name="Andrés Sanchez-Toril Bastrygina" userId="3b03b09f-13c0-4e05-819a-d5dea8e09df8" providerId="ADAL" clId="{AB6E9420-9DA3-455F-BCF4-9F7D2E397574}" dt="2026-09-18T09:34:50.447" v="131" actId="478"/>
          <ac:spMkLst>
            <pc:docMk/>
            <pc:sldMk cId="236054401" sldId="297"/>
            <ac:spMk id="10" creationId="{9320AF78-1FC6-19F4-8E0B-8A414F20C6DE}"/>
          </ac:spMkLst>
        </pc:spChg>
        <pc:picChg chg="add mod">
          <ac:chgData name="Andrés Sanchez-Toril Bastrygina" userId="3b03b09f-13c0-4e05-819a-d5dea8e09df8" providerId="ADAL" clId="{AB6E9420-9DA3-455F-BCF4-9F7D2E397574}" dt="2026-09-18T09:34:31.834" v="123" actId="1076"/>
          <ac:picMkLst>
            <pc:docMk/>
            <pc:sldMk cId="236054401" sldId="297"/>
            <ac:picMk id="4" creationId="{FAF500B3-B04D-F8EC-2597-DF4AF15D2D83}"/>
          </ac:picMkLst>
        </pc:picChg>
        <pc:picChg chg="add mod">
          <ac:chgData name="Andrés Sanchez-Toril Bastrygina" userId="3b03b09f-13c0-4e05-819a-d5dea8e09df8" providerId="ADAL" clId="{AB6E9420-9DA3-455F-BCF4-9F7D2E397574}" dt="2026-09-18T09:34:47.836" v="129" actId="1076"/>
          <ac:picMkLst>
            <pc:docMk/>
            <pc:sldMk cId="236054401" sldId="297"/>
            <ac:picMk id="7" creationId="{BBCBE8C3-CF99-0568-B744-73AD856C2383}"/>
          </ac:picMkLst>
        </pc:picChg>
      </pc:sldChg>
      <pc:sldChg chg="delSp modSp add mod">
        <pc:chgData name="Andrés Sanchez-Toril Bastrygina" userId="3b03b09f-13c0-4e05-819a-d5dea8e09df8" providerId="ADAL" clId="{AB6E9420-9DA3-455F-BCF4-9F7D2E397574}" dt="2026-09-18T09:32:08.807" v="97" actId="1076"/>
        <pc:sldMkLst>
          <pc:docMk/>
          <pc:sldMk cId="2712503759" sldId="298"/>
        </pc:sldMkLst>
        <pc:spChg chg="del">
          <ac:chgData name="Andrés Sanchez-Toril Bastrygina" userId="3b03b09f-13c0-4e05-819a-d5dea8e09df8" providerId="ADAL" clId="{AB6E9420-9DA3-455F-BCF4-9F7D2E397574}" dt="2026-09-18T09:31:58.137" v="93" actId="478"/>
          <ac:spMkLst>
            <pc:docMk/>
            <pc:sldMk cId="2712503759" sldId="298"/>
            <ac:spMk id="2" creationId="{B1E698A9-8BF8-25C5-41E1-EEEEFAC6121E}"/>
          </ac:spMkLst>
        </pc:spChg>
        <pc:spChg chg="mod">
          <ac:chgData name="Andrés Sanchez-Toril Bastrygina" userId="3b03b09f-13c0-4e05-819a-d5dea8e09df8" providerId="ADAL" clId="{AB6E9420-9DA3-455F-BCF4-9F7D2E397574}" dt="2026-09-18T09:32:02.367" v="94" actId="14100"/>
          <ac:spMkLst>
            <pc:docMk/>
            <pc:sldMk cId="2712503759" sldId="298"/>
            <ac:spMk id="7" creationId="{CD1EFB0D-458F-3C71-B040-D27843959AA4}"/>
          </ac:spMkLst>
        </pc:spChg>
        <pc:picChg chg="mod">
          <ac:chgData name="Andrés Sanchez-Toril Bastrygina" userId="3b03b09f-13c0-4e05-819a-d5dea8e09df8" providerId="ADAL" clId="{AB6E9420-9DA3-455F-BCF4-9F7D2E397574}" dt="2026-09-18T09:32:08.807" v="97" actId="1076"/>
          <ac:picMkLst>
            <pc:docMk/>
            <pc:sldMk cId="2712503759" sldId="298"/>
            <ac:picMk id="4" creationId="{54047F97-67AF-0DF7-FDBB-5F85F567ED7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238A3-FED1-DD8F-49C9-F56F49631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6A1C91C-EA73-594C-471E-F965C6BF1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0DC66E7-D4A7-6B64-83DA-55D10332C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FCB313-D3B0-CF73-6514-808BE4840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8984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3BBE-3704-D894-1C10-5488EE61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BB04E2-F70F-42F7-9964-3D274C49F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664AEC-7D1D-9DDC-3B94-3AE8450C7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F62EEB-2D30-2026-D252-4267AF688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60790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9AA65-166B-474B-A6C9-9858D86A9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8158223-A8BA-05F6-464C-EC03A9FB8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ECB4DF-C329-8F47-9ECE-661B5B2BF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1B2276-A4E2-DFBF-0088-6997E86C9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23159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23B86-D15F-9CD8-C5EA-3EAAD8BAC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73881A-26A5-ECF9-C6F2-3DEFA77AE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B7AFC79-4973-3930-959B-AEF8810CF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45D0F3-6273-0338-FCDA-175B73D7C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7382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1.0. WAVEGUIDES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1.0. WAVEGUIDES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1.0. WAVEGUIDES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ccanvas-upv/pic-upv-lab1" TargetMode="Externa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NUL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1.0. </a:t>
            </a:r>
            <a:r>
              <a:rPr lang="es-ES" sz="3200" b="1" dirty="0" err="1">
                <a:latin typeface="Lucida Sans"/>
                <a:cs typeface="Lucida Sans"/>
              </a:rPr>
              <a:t>Waveguides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>
                <a:latin typeface="Arial"/>
                <a:cs typeface="Arial"/>
              </a:rPr>
              <a:t>Student: Andrés Sanchez-Toril 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</a:t>
            </a:r>
            <a:r>
              <a:rPr lang="es-ES" dirty="0" err="1">
                <a:hlinkClick r:id="rId3"/>
              </a:rPr>
              <a:t>cccanvas-upv</a:t>
            </a:r>
            <a:r>
              <a:rPr lang="es-ES">
                <a:hlinkClick r:id="rId3"/>
              </a:rPr>
              <a:t>/pic-upv-lab1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 err="1">
                <a:solidFill>
                  <a:sysClr val="windowText" lastClr="000000"/>
                </a:solidFill>
              </a:rPr>
              <a:t>WAVEGUIDES_Student.ipynb</a:t>
            </a:r>
            <a:r>
              <a:rPr lang="en-US" kern="0" dirty="0">
                <a:solidFill>
                  <a:sysClr val="windowText" lastClr="000000"/>
                </a:solidFill>
              </a:rPr>
              <a:t> </a:t>
            </a:r>
          </a:p>
          <a:p>
            <a:pPr algn="just"/>
            <a:endParaRPr lang="en-US" sz="2000" b="1" i="1" u="sng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96" name="object 7">
            <a:extLst>
              <a:ext uri="{FF2B5EF4-FFF2-40B4-BE49-F238E27FC236}">
                <a16:creationId xmlns:a16="http://schemas.microsoft.com/office/drawing/2014/main" id="{BB459788-0671-D4BA-B6DB-A3544D24EA92}"/>
              </a:ext>
            </a:extLst>
          </p:cNvPr>
          <p:cNvSpPr/>
          <p:nvPr/>
        </p:nvSpPr>
        <p:spPr>
          <a:xfrm>
            <a:off x="902765" y="3422925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62">
            <a:extLst>
              <a:ext uri="{FF2B5EF4-FFF2-40B4-BE49-F238E27FC236}">
                <a16:creationId xmlns:a16="http://schemas.microsoft.com/office/drawing/2014/main" id="{13E0425E-CEDF-CBC4-B34B-0CC3951920EA}"/>
              </a:ext>
            </a:extLst>
          </p:cNvPr>
          <p:cNvSpPr/>
          <p:nvPr/>
        </p:nvSpPr>
        <p:spPr>
          <a:xfrm>
            <a:off x="1747061" y="3983757"/>
            <a:ext cx="76200" cy="986155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3">
            <a:extLst>
              <a:ext uri="{FF2B5EF4-FFF2-40B4-BE49-F238E27FC236}">
                <a16:creationId xmlns:a16="http://schemas.microsoft.com/office/drawing/2014/main" id="{FDE45797-C0E3-ACE0-F66B-057BDEDB9070}"/>
              </a:ext>
            </a:extLst>
          </p:cNvPr>
          <p:cNvSpPr txBox="1"/>
          <p:nvPr/>
        </p:nvSpPr>
        <p:spPr>
          <a:xfrm>
            <a:off x="1091131" y="4210910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  <a:endParaRPr sz="140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9" name="object 64">
            <a:extLst>
              <a:ext uri="{FF2B5EF4-FFF2-40B4-BE49-F238E27FC236}">
                <a16:creationId xmlns:a16="http://schemas.microsoft.com/office/drawing/2014/main" id="{ABAAA5DD-56CA-BF94-2180-F0866658B6B3}"/>
              </a:ext>
            </a:extLst>
          </p:cNvPr>
          <p:cNvSpPr/>
          <p:nvPr/>
        </p:nvSpPr>
        <p:spPr>
          <a:xfrm>
            <a:off x="1984805" y="3773445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65">
            <a:extLst>
              <a:ext uri="{FF2B5EF4-FFF2-40B4-BE49-F238E27FC236}">
                <a16:creationId xmlns:a16="http://schemas.microsoft.com/office/drawing/2014/main" id="{A1EF013C-5123-D9A7-DC76-FEFD731E96E2}"/>
              </a:ext>
            </a:extLst>
          </p:cNvPr>
          <p:cNvSpPr txBox="1"/>
          <p:nvPr/>
        </p:nvSpPr>
        <p:spPr>
          <a:xfrm>
            <a:off x="2504743" y="3532730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1" name="object 73">
            <a:extLst>
              <a:ext uri="{FF2B5EF4-FFF2-40B4-BE49-F238E27FC236}">
                <a16:creationId xmlns:a16="http://schemas.microsoft.com/office/drawing/2014/main" id="{4C5C0871-D9B5-E642-7661-FFBCAD75720B}"/>
              </a:ext>
            </a:extLst>
          </p:cNvPr>
          <p:cNvSpPr txBox="1"/>
          <p:nvPr/>
        </p:nvSpPr>
        <p:spPr>
          <a:xfrm>
            <a:off x="1984805" y="3983757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2" name="object 74">
            <a:extLst>
              <a:ext uri="{FF2B5EF4-FFF2-40B4-BE49-F238E27FC236}">
                <a16:creationId xmlns:a16="http://schemas.microsoft.com/office/drawing/2014/main" id="{10CC4DBA-05F4-4CDC-BA0E-6200AF622CA9}"/>
              </a:ext>
            </a:extLst>
          </p:cNvPr>
          <p:cNvSpPr txBox="1"/>
          <p:nvPr/>
        </p:nvSpPr>
        <p:spPr>
          <a:xfrm>
            <a:off x="3983988" y="4338253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06801468-6F27-A16A-64E3-D7AD4B6B6B96}"/>
              </a:ext>
            </a:extLst>
          </p:cNvPr>
          <p:cNvSpPr/>
          <p:nvPr/>
        </p:nvSpPr>
        <p:spPr>
          <a:xfrm>
            <a:off x="7391400" y="3422925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D9E5D738-CA47-1898-E0D8-DFBC514F5A50}"/>
              </a:ext>
            </a:extLst>
          </p:cNvPr>
          <p:cNvSpPr/>
          <p:nvPr/>
        </p:nvSpPr>
        <p:spPr>
          <a:xfrm>
            <a:off x="8473440" y="3773445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74A4CAE1-BC33-1BCD-6F24-54F1DFA8AEDB}"/>
              </a:ext>
            </a:extLst>
          </p:cNvPr>
          <p:cNvSpPr txBox="1"/>
          <p:nvPr/>
        </p:nvSpPr>
        <p:spPr>
          <a:xfrm>
            <a:off x="8993378" y="3532730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6" name="object 73">
            <a:extLst>
              <a:ext uri="{FF2B5EF4-FFF2-40B4-BE49-F238E27FC236}">
                <a16:creationId xmlns:a16="http://schemas.microsoft.com/office/drawing/2014/main" id="{CC9D2269-0CA8-143F-4E45-F3AF594A2ED3}"/>
              </a:ext>
            </a:extLst>
          </p:cNvPr>
          <p:cNvSpPr txBox="1"/>
          <p:nvPr/>
        </p:nvSpPr>
        <p:spPr>
          <a:xfrm>
            <a:off x="8473440" y="3983757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7" name="object 74">
            <a:extLst>
              <a:ext uri="{FF2B5EF4-FFF2-40B4-BE49-F238E27FC236}">
                <a16:creationId xmlns:a16="http://schemas.microsoft.com/office/drawing/2014/main" id="{8A3332FF-25D4-1955-323F-BBD1D30324AC}"/>
              </a:ext>
            </a:extLst>
          </p:cNvPr>
          <p:cNvSpPr txBox="1"/>
          <p:nvPr/>
        </p:nvSpPr>
        <p:spPr>
          <a:xfrm>
            <a:off x="10472623" y="4338253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20" name="object 73">
            <a:extLst>
              <a:ext uri="{FF2B5EF4-FFF2-40B4-BE49-F238E27FC236}">
                <a16:creationId xmlns:a16="http://schemas.microsoft.com/office/drawing/2014/main" id="{C699977C-9138-F9B9-E43D-0CCB01AEB75F}"/>
              </a:ext>
            </a:extLst>
          </p:cNvPr>
          <p:cNvSpPr txBox="1"/>
          <p:nvPr/>
        </p:nvSpPr>
        <p:spPr>
          <a:xfrm>
            <a:off x="7391400" y="4690819"/>
            <a:ext cx="39061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lang="es-ES" sz="2350" dirty="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</a:pPr>
            <a:r>
              <a:rPr lang="es-ES" sz="1600" b="1" spc="-10" dirty="0" err="1">
                <a:latin typeface="Calibri"/>
                <a:cs typeface="Calibri"/>
              </a:rPr>
              <a:t>Slab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2" name="object 62">
            <a:extLst>
              <a:ext uri="{FF2B5EF4-FFF2-40B4-BE49-F238E27FC236}">
                <a16:creationId xmlns:a16="http://schemas.microsoft.com/office/drawing/2014/main" id="{04561701-4B4F-F208-98F6-2DAB5C1138D3}"/>
              </a:ext>
            </a:extLst>
          </p:cNvPr>
          <p:cNvSpPr/>
          <p:nvPr/>
        </p:nvSpPr>
        <p:spPr>
          <a:xfrm>
            <a:off x="8575910" y="3994221"/>
            <a:ext cx="56259" cy="694989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62">
            <a:extLst>
              <a:ext uri="{FF2B5EF4-FFF2-40B4-BE49-F238E27FC236}">
                <a16:creationId xmlns:a16="http://schemas.microsoft.com/office/drawing/2014/main" id="{CCA3B0D6-0C9E-B4A6-FA43-1AB5F1821674}"/>
              </a:ext>
            </a:extLst>
          </p:cNvPr>
          <p:cNvSpPr/>
          <p:nvPr/>
        </p:nvSpPr>
        <p:spPr>
          <a:xfrm>
            <a:off x="8233207" y="4689210"/>
            <a:ext cx="55008" cy="613272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63">
            <a:extLst>
              <a:ext uri="{FF2B5EF4-FFF2-40B4-BE49-F238E27FC236}">
                <a16:creationId xmlns:a16="http://schemas.microsoft.com/office/drawing/2014/main" id="{6394166D-0522-24AD-E666-39FE8A3FDC24}"/>
              </a:ext>
            </a:extLst>
          </p:cNvPr>
          <p:cNvSpPr txBox="1"/>
          <p:nvPr/>
        </p:nvSpPr>
        <p:spPr>
          <a:xfrm>
            <a:off x="8351994" y="4887127"/>
            <a:ext cx="674053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dirty="0" err="1">
                <a:latin typeface="Calibri"/>
                <a:cs typeface="Calibri"/>
              </a:rPr>
              <a:t>h_slab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2" name="object 63">
            <a:extLst>
              <a:ext uri="{FF2B5EF4-FFF2-40B4-BE49-F238E27FC236}">
                <a16:creationId xmlns:a16="http://schemas.microsoft.com/office/drawing/2014/main" id="{B589EB7D-B26E-4239-A5C2-F96DBBE82162}"/>
              </a:ext>
            </a:extLst>
          </p:cNvPr>
          <p:cNvSpPr txBox="1"/>
          <p:nvPr/>
        </p:nvSpPr>
        <p:spPr>
          <a:xfrm>
            <a:off x="8706378" y="3990085"/>
            <a:ext cx="138017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spc="-10" dirty="0" err="1">
                <a:latin typeface="Calibri"/>
                <a:cs typeface="Calibri"/>
              </a:rPr>
              <a:t>h_core</a:t>
            </a:r>
            <a:r>
              <a:rPr lang="es-ES" sz="1400" spc="-10" dirty="0">
                <a:latin typeface="Calibri"/>
                <a:cs typeface="Calibri"/>
              </a:rPr>
              <a:t> 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9306491" y="5257071"/>
            <a:ext cx="1980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shallow</a:t>
            </a:r>
            <a:r>
              <a:rPr lang="en-US" dirty="0"/>
              <a:t> waveguide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2969899" y="5257071"/>
            <a:ext cx="215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</p:txBody>
      </p:sp>
    </p:spTree>
    <p:extLst>
      <p:ext uri="{BB962C8B-B14F-4D97-AF65-F5344CB8AC3E}">
        <p14:creationId xmlns:p14="http://schemas.microsoft.com/office/powerpoint/2010/main" val="473922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Convergence tests</a:t>
            </a:r>
            <a:br>
              <a:rPr lang="en-US" sz="2500" dirty="0"/>
            </a:br>
            <a:r>
              <a:rPr lang="nl-NL" b="0" dirty="0"/>
              <a:t>DE waveguide, w = 1.2 µm, neff_TE0, wvl 1.55 µm. 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67C6D40-33EE-D9BE-7F58-8D96221D0D59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A5ECC9-91D2-2918-1681-822F99EB31CD}"/>
              </a:ext>
            </a:extLst>
          </p:cNvPr>
          <p:cNvSpPr txBox="1"/>
          <p:nvPr/>
        </p:nvSpPr>
        <p:spPr>
          <a:xfrm>
            <a:off x="1079403" y="2709096"/>
            <a:ext cx="4546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neff_TE0 vs </a:t>
            </a:r>
            <a:r>
              <a:rPr lang="en-US" dirty="0" err="1"/>
              <a:t>grid_resolution</a:t>
            </a:r>
            <a:r>
              <a:rPr lang="en-US" dirty="0"/>
              <a:t> plot here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814CDD6-2B59-8488-4EB8-82801B4D3F22}"/>
                  </a:ext>
                </a:extLst>
              </p:cNvPr>
              <p:cNvSpPr txBox="1"/>
              <p:nvPr/>
            </p:nvSpPr>
            <p:spPr>
              <a:xfrm>
                <a:off x="609441" y="4860334"/>
                <a:ext cx="11199971" cy="66537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E0700D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ES" sz="1200" dirty="0" err="1"/>
                  <a:t>Insufficient</a:t>
                </a:r>
                <a:r>
                  <a:rPr lang="es-ES" sz="1200" dirty="0"/>
                  <a:t> </a:t>
                </a:r>
                <a:r>
                  <a:rPr lang="es-ES" sz="1200" dirty="0" err="1"/>
                  <a:t>spatial</a:t>
                </a:r>
                <a:r>
                  <a:rPr lang="es-ES" sz="1200" dirty="0"/>
                  <a:t> </a:t>
                </a:r>
                <a:r>
                  <a:rPr lang="es-ES" sz="1200" dirty="0" err="1"/>
                  <a:t>discretization</a:t>
                </a:r>
                <a:r>
                  <a:rPr lang="es-ES" sz="1200" dirty="0"/>
                  <a:t> </a:t>
                </a:r>
                <a:r>
                  <a:rPr lang="es-ES" sz="1200" dirty="0" err="1"/>
                  <a:t>across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core-cladding</a:t>
                </a:r>
                <a:r>
                  <a:rPr lang="es-ES" sz="1200" dirty="0"/>
                  <a:t> interfaces causes </a:t>
                </a:r>
                <a:r>
                  <a:rPr lang="es-ES" sz="1200" dirty="0" err="1"/>
                  <a:t>noticeable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numerical</a:t>
                </a:r>
                <a:r>
                  <a:rPr lang="es-ES" sz="1200" dirty="0"/>
                  <a:t> </a:t>
                </a:r>
                <a:r>
                  <a:rPr lang="es-ES" sz="1200" dirty="0" err="1"/>
                  <a:t>fluctuations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for</a:t>
                </a:r>
                <a:r>
                  <a:rPr lang="es-ES" sz="1200" dirty="0"/>
                  <a:t> </a:t>
                </a:r>
                <a:r>
                  <a:rPr lang="es-ES" sz="1200" dirty="0" err="1"/>
                  <a:t>grid_resolution</a:t>
                </a:r>
                <a:r>
                  <a:rPr lang="es-ES" sz="1200" dirty="0"/>
                  <a:t> &lt; 30. </a:t>
                </a:r>
                <a:r>
                  <a:rPr lang="es-ES" sz="1200" dirty="0" err="1"/>
                  <a:t>However</a:t>
                </a:r>
                <a:r>
                  <a:rPr lang="es-ES" sz="1200" dirty="0"/>
                  <a:t>,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effective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index</a:t>
                </a:r>
                <a:r>
                  <a:rPr lang="es-ES" sz="1200" dirty="0"/>
                  <a:t> converges </a:t>
                </a:r>
                <a:r>
                  <a:rPr lang="es-ES" sz="1200" dirty="0" err="1"/>
                  <a:t>asymptotically</a:t>
                </a:r>
                <a:r>
                  <a:rPr lang="es-ES" sz="1200" dirty="0"/>
                  <a:t> and </a:t>
                </a:r>
                <a:r>
                  <a:rPr lang="es-ES" sz="1200" dirty="0" err="1"/>
                  <a:t>stabilizes</a:t>
                </a:r>
                <a:r>
                  <a:rPr lang="es-ES" sz="1200" dirty="0"/>
                  <a:t> (</a:t>
                </a:r>
                <a14:m>
                  <m:oMath xmlns:m="http://schemas.openxmlformats.org/officeDocument/2006/math">
                    <m:r>
                      <a:rPr lang="es-ES" sz="1200" b="0" i="1"/>
                      <m:t>𝛥</m:t>
                    </m:r>
                    <m:sSub>
                      <m:sSubPr>
                        <m:ctrlPr>
                          <a:rPr lang="es-ES" sz="1200" b="0" i="1"/>
                        </m:ctrlPr>
                      </m:sSubPr>
                      <m:e>
                        <m:r>
                          <a:rPr lang="es-ES" sz="1200" b="0" i="1"/>
                          <m:t>𝑛</m:t>
                        </m:r>
                      </m:e>
                      <m:sub>
                        <m:r>
                          <m:rPr>
                            <m:nor/>
                          </m:rPr>
                          <a:rPr lang="es-ES" sz="1200"/>
                          <m:t>eff</m:t>
                        </m:r>
                      </m:sub>
                    </m:sSub>
                    <m:r>
                      <a:rPr lang="es-ES" sz="1200" b="0"/>
                      <m:t>&lt;</m:t>
                    </m:r>
                    <m:sSup>
                      <m:sSupPr>
                        <m:ctrlPr>
                          <a:rPr lang="es-ES" sz="1200" b="0" i="1"/>
                        </m:ctrlPr>
                      </m:sSupPr>
                      <m:e>
                        <m:r>
                          <a:rPr lang="es-ES" sz="1200" b="0" i="1"/>
                          <m:t>10</m:t>
                        </m:r>
                      </m:e>
                      <m:sup>
                        <m:r>
                          <a:rPr lang="es-ES" sz="1200" b="0"/>
                          <m:t>−</m:t>
                        </m:r>
                        <m:r>
                          <a:rPr lang="es-ES" sz="1200" b="0" i="1"/>
                          <m:t>4</m:t>
                        </m:r>
                      </m:sup>
                    </m:sSup>
                  </m:oMath>
                </a14:m>
                <a:r>
                  <a:rPr lang="es-ES" sz="1200" dirty="0"/>
                  <a:t>) </a:t>
                </a:r>
                <a:r>
                  <a:rPr lang="es-ES" sz="1200" dirty="0" err="1"/>
                  <a:t>beyond</a:t>
                </a:r>
                <a:r>
                  <a:rPr lang="es-ES" sz="1200" dirty="0"/>
                  <a:t> </a:t>
                </a:r>
                <a:r>
                  <a:rPr lang="es-ES" sz="1200" dirty="0" err="1"/>
                  <a:t>grid_resolution</a:t>
                </a:r>
                <a:r>
                  <a:rPr lang="es-ES" sz="1200" dirty="0"/>
                  <a:t> </a:t>
                </a:r>
                <a14:m>
                  <m:oMath xmlns:m="http://schemas.openxmlformats.org/officeDocument/2006/math">
                    <m:r>
                      <a:rPr lang="es-ES" sz="1200" b="0"/>
                      <m:t>≥</m:t>
                    </m:r>
                  </m:oMath>
                </a14:m>
                <a:r>
                  <a:rPr lang="es-ES" sz="1200" dirty="0"/>
                  <a:t>50. </a:t>
                </a:r>
                <a:r>
                  <a:rPr lang="es-ES" sz="1200" dirty="0" err="1"/>
                  <a:t>Coupled</a:t>
                </a:r>
                <a:r>
                  <a:rPr lang="es-ES" sz="1200" dirty="0"/>
                  <a:t> </a:t>
                </a:r>
                <a:r>
                  <a:rPr lang="es-ES" sz="1200" dirty="0" err="1"/>
                  <a:t>with</a:t>
                </a:r>
                <a:r>
                  <a:rPr lang="es-ES" sz="1200" dirty="0"/>
                  <a:t> </a:t>
                </a:r>
                <a:r>
                  <a:rPr lang="es-ES" sz="1200" dirty="0" err="1"/>
                  <a:t>max_grid_scaling</a:t>
                </a:r>
                <a:r>
                  <a:rPr lang="es-ES" sz="1200" dirty="0"/>
                  <a:t> </a:t>
                </a:r>
                <a14:m>
                  <m:oMath xmlns:m="http://schemas.openxmlformats.org/officeDocument/2006/math">
                    <m:r>
                      <a:rPr lang="es-ES" sz="1200" b="0"/>
                      <m:t>≥</m:t>
                    </m:r>
                  </m:oMath>
                </a14:m>
                <a:r>
                  <a:rPr lang="es-ES" sz="1200" dirty="0"/>
                  <a:t>1.5—</a:t>
                </a:r>
                <a:r>
                  <a:rPr lang="es-ES" sz="1200" dirty="0" err="1"/>
                  <a:t>which</a:t>
                </a:r>
                <a:r>
                  <a:rPr lang="es-ES" sz="1200" dirty="0"/>
                  <a:t> </a:t>
                </a:r>
                <a:r>
                  <a:rPr lang="es-ES" sz="1200" dirty="0" err="1"/>
                  <a:t>provides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sufficient</a:t>
                </a:r>
                <a:r>
                  <a:rPr lang="es-ES" sz="1200" dirty="0"/>
                  <a:t> </a:t>
                </a:r>
                <a:r>
                  <a:rPr lang="es-ES" sz="1200" dirty="0" err="1"/>
                  <a:t>domain</a:t>
                </a:r>
                <a:r>
                  <a:rPr lang="es-ES" sz="1200" dirty="0"/>
                  <a:t> </a:t>
                </a:r>
                <a:r>
                  <a:rPr lang="es-ES" sz="1200" dirty="0" err="1"/>
                  <a:t>clearance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for</a:t>
                </a:r>
                <a:r>
                  <a:rPr lang="es-ES" sz="1200" dirty="0"/>
                  <a:t> </a:t>
                </a:r>
                <a:r>
                  <a:rPr lang="es-ES" sz="1200" dirty="0" err="1"/>
                  <a:t>evanescent</a:t>
                </a:r>
                <a:r>
                  <a:rPr lang="es-ES" sz="1200" dirty="0"/>
                  <a:t> </a:t>
                </a:r>
                <a:r>
                  <a:rPr lang="es-ES" sz="1200" dirty="0" err="1"/>
                  <a:t>field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tails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to</a:t>
                </a:r>
                <a:r>
                  <a:rPr lang="es-ES" sz="1200" dirty="0"/>
                  <a:t> </a:t>
                </a:r>
                <a:r>
                  <a:rPr lang="es-ES" sz="1200" dirty="0" err="1"/>
                  <a:t>fully</a:t>
                </a:r>
                <a:r>
                  <a:rPr lang="es-ES" sz="1200" dirty="0"/>
                  <a:t> </a:t>
                </a:r>
                <a:r>
                  <a:rPr lang="es-ES" sz="1200" dirty="0" err="1"/>
                  <a:t>decay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to</a:t>
                </a:r>
                <a:r>
                  <a:rPr lang="es-ES" sz="1200" dirty="0"/>
                  <a:t> </a:t>
                </a:r>
                <a:r>
                  <a:rPr lang="es-ES" sz="1200" dirty="0" err="1"/>
                  <a:t>zero</a:t>
                </a:r>
                <a:r>
                  <a:rPr lang="es-ES" sz="1200" dirty="0"/>
                  <a:t>—</a:t>
                </a:r>
                <a:r>
                  <a:rPr lang="es-ES" sz="1200" dirty="0" err="1"/>
                  <a:t>this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parameter</a:t>
                </a:r>
                <a:r>
                  <a:rPr lang="es-ES" sz="1200" dirty="0"/>
                  <a:t> set </a:t>
                </a:r>
                <a:r>
                  <a:rPr lang="es-ES" sz="1200" dirty="0" err="1"/>
                  <a:t>eliminates</a:t>
                </a:r>
                <a:r>
                  <a:rPr lang="es-ES" sz="1200" dirty="0"/>
                  <a:t> artificial </a:t>
                </a:r>
                <a:r>
                  <a:rPr lang="es-ES" sz="1200" dirty="0" err="1"/>
                  <a:t>boundary</a:t>
                </a:r>
                <a:r>
                  <a:rPr lang="es-ES" sz="1200" dirty="0"/>
                  <a:t> </a:t>
                </a:r>
                <a:r>
                  <a:rPr lang="es-ES" sz="1200" dirty="0" err="1"/>
                  <a:t>reflections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while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optimizing</a:t>
                </a:r>
                <a:r>
                  <a:rPr lang="es-ES" sz="1200" dirty="0"/>
                  <a:t> </a:t>
                </a:r>
                <a:r>
                  <a:rPr lang="es-ES" sz="1200" dirty="0" err="1"/>
                  <a:t>computational</a:t>
                </a:r>
                <a:r>
                  <a:rPr lang="es-ES" sz="1200" dirty="0"/>
                  <a:t> </a:t>
                </a:r>
                <a:r>
                  <a:rPr lang="es-ES" sz="1200" dirty="0" err="1"/>
                  <a:t>runtime</a:t>
                </a:r>
                <a:r>
                  <a:rPr lang="es-ES" sz="1200" dirty="0"/>
                  <a:t>.</a:t>
                </a: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814CDD6-2B59-8488-4EB8-82801B4D3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1" y="4860334"/>
                <a:ext cx="11199971" cy="665375"/>
              </a:xfrm>
              <a:prstGeom prst="rect">
                <a:avLst/>
              </a:prstGeom>
              <a:blipFill>
                <a:blip r:embed="rId4"/>
                <a:stretch>
                  <a:fillRect b="-4386"/>
                </a:stretch>
              </a:blipFill>
              <a:ln w="28575">
                <a:solidFill>
                  <a:srgbClr val="E0700D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029F2FF9-FEB4-7AA3-B3B4-EFA9CFA0E230}"/>
              </a:ext>
            </a:extLst>
          </p:cNvPr>
          <p:cNvSpPr/>
          <p:nvPr/>
        </p:nvSpPr>
        <p:spPr>
          <a:xfrm>
            <a:off x="6322853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2C94B57-6111-4070-F6BA-8C3B9C305618}"/>
              </a:ext>
            </a:extLst>
          </p:cNvPr>
          <p:cNvSpPr txBox="1"/>
          <p:nvPr/>
        </p:nvSpPr>
        <p:spPr>
          <a:xfrm>
            <a:off x="6792815" y="2698951"/>
            <a:ext cx="4546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neff_TE0 vs </a:t>
            </a:r>
            <a:r>
              <a:rPr lang="en-US" dirty="0" err="1"/>
              <a:t>max_grid_scaling</a:t>
            </a:r>
            <a:r>
              <a:rPr lang="en-US" dirty="0"/>
              <a:t> plot here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CC6EB6E-C676-059F-5899-ED5FB33B3B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1374" y="1323336"/>
            <a:ext cx="4242691" cy="329987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F78D778-C111-D195-D342-0C70566AF0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2815" y="1259515"/>
            <a:ext cx="4319782" cy="3314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5E7D9-2171-269B-ACE8-77F8B8163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998CF529-CDA2-C989-9E66-BE581D74DC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Width dependence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Width 0.6 - 1.6 µm (step 0.1 µm) – Wavelength 1.55 µm 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2A9B9F6-301C-899B-05E0-60C12B63F0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C8FA9457-8FB3-1C22-58CB-1C7CA954C92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64A7DF2-F099-0BA6-CCB3-C9DB9BE5D2B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0.1. MODESOLVER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D1EFB0D-458F-3C71-B040-D27843959AA4}"/>
              </a:ext>
            </a:extLst>
          </p:cNvPr>
          <p:cNvSpPr/>
          <p:nvPr/>
        </p:nvSpPr>
        <p:spPr>
          <a:xfrm>
            <a:off x="609441" y="1418372"/>
            <a:ext cx="11199971" cy="4601427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49C547C-7697-F688-EA7B-A3941336961F}"/>
              </a:ext>
            </a:extLst>
          </p:cNvPr>
          <p:cNvSpPr txBox="1"/>
          <p:nvPr/>
        </p:nvSpPr>
        <p:spPr>
          <a:xfrm>
            <a:off x="2286000" y="2671278"/>
            <a:ext cx="77185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plot here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4047F97-67AF-0DF7-FDBB-5F85F567E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485045"/>
            <a:ext cx="7653854" cy="445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503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0AC3D-36B7-D786-3825-B4DD6EAD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AA2E789-F7AE-F068-274C-E0F13A22DB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Width dependence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Width 0.6 - 1.6 µm (step 0.1 µm) – Wavelength 1.55 µm 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AEAD01B-7604-8009-5694-A556497AEF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96E3846-1BD2-4F23-48AA-C7AF2A1EE6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32C0E2B-75B6-4768-A4C7-F165A264DA0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0.1. MODESOLVER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82A62DD6-5488-72A1-9926-0CAEE59089A9}"/>
                  </a:ext>
                </a:extLst>
              </p:cNvPr>
              <p:cNvSpPr txBox="1"/>
              <p:nvPr/>
            </p:nvSpPr>
            <p:spPr>
              <a:xfrm>
                <a:off x="518339" y="1447800"/>
                <a:ext cx="11199971" cy="24220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E0700D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s-ES" dirty="0"/>
                  <a:t>The </a:t>
                </a:r>
                <a:r>
                  <a:rPr lang="es-ES" dirty="0" err="1"/>
                  <a:t>effective</a:t>
                </a:r>
                <a:r>
                  <a:rPr lang="es-ES" dirty="0"/>
                  <a:t> </a:t>
                </a:r>
                <a:r>
                  <a:rPr lang="es-ES" dirty="0" err="1"/>
                  <a:t>index</a:t>
                </a:r>
                <a:r>
                  <a:rPr lang="es-ES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/>
                        </m:ctrlPr>
                      </m:sSubPr>
                      <m:e>
                        <m:r>
                          <a:rPr lang="es-ES" i="1"/>
                          <m:t>𝑛</m:t>
                        </m:r>
                      </m:e>
                      <m:sub>
                        <m:r>
                          <m:rPr>
                            <m:nor/>
                          </m:rPr>
                          <a:rPr lang="es-ES"/>
                          <m:t>eff</m:t>
                        </m:r>
                      </m:sub>
                    </m:sSub>
                  </m:oMath>
                </a14:m>
                <a:r>
                  <a:rPr lang="es-ES" dirty="0"/>
                  <a:t>) </a:t>
                </a:r>
                <a:r>
                  <a:rPr lang="es-ES" dirty="0" err="1"/>
                  <a:t>increases</a:t>
                </a:r>
                <a:r>
                  <a:rPr lang="es-ES" dirty="0"/>
                  <a:t> </a:t>
                </a:r>
                <a:r>
                  <a:rPr lang="es-ES" dirty="0" err="1"/>
                  <a:t>monotonically</a:t>
                </a:r>
                <a:r>
                  <a:rPr lang="es-ES" dirty="0"/>
                  <a:t> </a:t>
                </a:r>
                <a:r>
                  <a:rPr lang="es-ES" dirty="0" err="1"/>
                  <a:t>with</a:t>
                </a:r>
                <a:r>
                  <a:rPr lang="es-ES" dirty="0"/>
                  <a:t> </a:t>
                </a:r>
                <a:r>
                  <a:rPr lang="es-ES" dirty="0" err="1"/>
                  <a:t>core</a:t>
                </a:r>
                <a:r>
                  <a:rPr lang="es-ES" dirty="0"/>
                  <a:t> </a:t>
                </a:r>
                <a:r>
                  <a:rPr lang="es-ES" dirty="0" err="1"/>
                  <a:t>width</a:t>
                </a:r>
                <a:r>
                  <a:rPr lang="es-ES" dirty="0"/>
                  <a:t> as </a:t>
                </a:r>
                <a:r>
                  <a:rPr lang="es-ES" dirty="0" err="1"/>
                  <a:t>optical</a:t>
                </a:r>
                <a:r>
                  <a:rPr lang="es-ES" dirty="0"/>
                  <a:t> </a:t>
                </a:r>
                <a:r>
                  <a:rPr lang="es-ES" dirty="0" err="1"/>
                  <a:t>confinement</a:t>
                </a:r>
                <a:r>
                  <a:rPr lang="es-ES" dirty="0"/>
                  <a:t> </a:t>
                </a:r>
                <a:r>
                  <a:rPr lang="es-ES" dirty="0" err="1"/>
                  <a:t>within</a:t>
                </a:r>
                <a:r>
                  <a:rPr lang="es-ES" dirty="0"/>
                  <a:t> </a:t>
                </a:r>
                <a:r>
                  <a:rPr lang="es-ES" dirty="0" err="1"/>
                  <a:t>the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/>
                        </m:ctrlPr>
                      </m:sSubPr>
                      <m:e>
                        <m:r>
                          <m:rPr>
                            <m:nor/>
                          </m:rPr>
                          <a:rPr lang="es-ES"/>
                          <m:t>Si</m:t>
                        </m:r>
                      </m:e>
                      <m:sub>
                        <m:r>
                          <a:rPr lang="es-ES"/>
                          <m:t>3</m:t>
                        </m:r>
                      </m:sub>
                    </m:sSub>
                    <m:sSub>
                      <m:sSubPr>
                        <m:ctrlPr>
                          <a:rPr lang="es-ES"/>
                        </m:ctrlPr>
                      </m:sSubPr>
                      <m:e>
                        <m:r>
                          <m:rPr>
                            <m:nor/>
                          </m:rPr>
                          <a:rPr lang="es-ES"/>
                          <m:t>N</m:t>
                        </m:r>
                      </m:e>
                      <m:sub>
                        <m:r>
                          <a:rPr lang="es-ES"/>
                          <m:t>4</m:t>
                        </m:r>
                      </m:sub>
                    </m:sSub>
                  </m:oMath>
                </a14:m>
                <a:r>
                  <a:rPr lang="es-ES" dirty="0" err="1"/>
                  <a:t>core</a:t>
                </a:r>
                <a:r>
                  <a:rPr lang="es-ES" dirty="0"/>
                  <a:t> </a:t>
                </a:r>
                <a:r>
                  <a:rPr lang="es-ES" dirty="0" err="1"/>
                  <a:t>strengthens</a:t>
                </a:r>
                <a:r>
                  <a:rPr lang="es-ES" dirty="0"/>
                  <a:t> and </a:t>
                </a:r>
                <a:r>
                  <a:rPr lang="es-ES" dirty="0" err="1"/>
                  <a:t>evanescent</a:t>
                </a:r>
                <a:r>
                  <a:rPr lang="es-ES" dirty="0"/>
                  <a:t> </a:t>
                </a:r>
                <a:r>
                  <a:rPr lang="es-ES" dirty="0" err="1"/>
                  <a:t>field</a:t>
                </a:r>
                <a:r>
                  <a:rPr lang="es-ES" dirty="0"/>
                  <a:t> </a:t>
                </a:r>
                <a:r>
                  <a:rPr lang="es-ES" dirty="0" err="1"/>
                  <a:t>penetration</a:t>
                </a:r>
                <a:r>
                  <a:rPr lang="es-ES" dirty="0"/>
                  <a:t> </a:t>
                </a:r>
                <a:r>
                  <a:rPr lang="es-ES" dirty="0" err="1"/>
                  <a:t>into</a:t>
                </a:r>
                <a:r>
                  <a:rPr lang="es-ES" dirty="0"/>
                  <a:t> </a:t>
                </a:r>
                <a:r>
                  <a:rPr lang="es-ES" dirty="0" err="1"/>
                  <a:t>the</a:t>
                </a:r>
                <a:r>
                  <a:rPr lang="es-ES" dirty="0"/>
                  <a:t> </a:t>
                </a:r>
                <a:r>
                  <a:rPr lang="es-ES" dirty="0" err="1"/>
                  <a:t>cladding</a:t>
                </a:r>
                <a:r>
                  <a:rPr lang="es-ES" dirty="0"/>
                  <a:t> </a:t>
                </a:r>
                <a:r>
                  <a:rPr lang="es-ES" dirty="0" err="1"/>
                  <a:t>decreases</a:t>
                </a:r>
                <a:r>
                  <a:rPr lang="es-ES" dirty="0"/>
                  <a:t>.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/>
                        </m:ctrlPr>
                      </m:sSubPr>
                      <m:e>
                        <m:r>
                          <m:rPr>
                            <m:nor/>
                          </m:rPr>
                          <a:rPr lang="es-ES"/>
                          <m:t>SiO</m:t>
                        </m:r>
                      </m:e>
                      <m:sub>
                        <m:r>
                          <a:rPr lang="es-ES"/>
                          <m:t>2</m:t>
                        </m:r>
                      </m:sub>
                    </m:sSub>
                  </m:oMath>
                </a14:m>
                <a:r>
                  <a:rPr lang="es-ES" dirty="0" err="1"/>
                  <a:t>cladding</a:t>
                </a:r>
                <a:r>
                  <a:rPr lang="es-ES" dirty="0"/>
                  <a:t> </a:t>
                </a:r>
                <a:r>
                  <a:rPr lang="es-ES" dirty="0" err="1"/>
                  <a:t>index</a:t>
                </a:r>
                <a:r>
                  <a:rPr lang="es-ES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/>
                        </m:ctrlPr>
                      </m:sSubPr>
                      <m:e>
                        <m:r>
                          <a:rPr lang="es-ES" i="1"/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s-ES"/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s-ES"/>
                              <m:t>SiO</m:t>
                            </m:r>
                          </m:e>
                          <m:sub>
                            <m:r>
                              <a:rPr lang="es-ES"/>
                              <m:t>2</m:t>
                            </m:r>
                          </m:sub>
                        </m:sSub>
                      </m:sub>
                    </m:sSub>
                    <m:r>
                      <a:rPr lang="es-ES"/>
                      <m:t>≈1.458</m:t>
                    </m:r>
                  </m:oMath>
                </a14:m>
                <a:r>
                  <a:rPr lang="es-ES" dirty="0"/>
                  <a:t>, </a:t>
                </a:r>
                <a:r>
                  <a:rPr lang="es-ES" dirty="0" err="1"/>
                  <a:t>dashed</a:t>
                </a:r>
                <a:r>
                  <a:rPr lang="es-ES" dirty="0"/>
                  <a:t> line) defines </a:t>
                </a:r>
                <a:r>
                  <a:rPr lang="es-ES" dirty="0" err="1"/>
                  <a:t>the</a:t>
                </a:r>
                <a:r>
                  <a:rPr lang="es-ES" dirty="0"/>
                  <a:t> </a:t>
                </a:r>
                <a:r>
                  <a:rPr lang="es-ES" dirty="0" err="1"/>
                  <a:t>guiding</a:t>
                </a:r>
                <a:r>
                  <a:rPr lang="es-ES" dirty="0"/>
                  <a:t> </a:t>
                </a:r>
                <a:r>
                  <a:rPr lang="es-ES" dirty="0" err="1"/>
                  <a:t>cut</a:t>
                </a:r>
                <a:r>
                  <a:rPr lang="es-ES" dirty="0"/>
                  <a:t>-off </a:t>
                </a:r>
                <a:r>
                  <a:rPr lang="es-ES" dirty="0" err="1"/>
                  <a:t>threshold</a:t>
                </a:r>
                <a:r>
                  <a:rPr lang="es-ES" dirty="0"/>
                  <a:t>, </a:t>
                </a:r>
                <a:r>
                  <a:rPr lang="es-ES" dirty="0" err="1"/>
                  <a:t>ensuring</a:t>
                </a:r>
                <a:r>
                  <a:rPr lang="es-ES" dirty="0"/>
                  <a:t> </a:t>
                </a:r>
                <a:r>
                  <a:rPr lang="es-ES" dirty="0" err="1"/>
                  <a:t>that</a:t>
                </a:r>
                <a:r>
                  <a:rPr lang="es-ES" dirty="0"/>
                  <a:t> </a:t>
                </a:r>
                <a:r>
                  <a:rPr lang="es-ES" dirty="0" err="1"/>
                  <a:t>only</a:t>
                </a:r>
                <a:r>
                  <a:rPr lang="es-ES" dirty="0"/>
                  <a:t> </a:t>
                </a:r>
                <a:r>
                  <a:rPr lang="es-ES" dirty="0" err="1"/>
                  <a:t>modes</a:t>
                </a:r>
                <a:r>
                  <a:rPr lang="es-ES" dirty="0"/>
                  <a:t> </a:t>
                </a:r>
                <a:r>
                  <a:rPr lang="es-ES" dirty="0" err="1"/>
                  <a:t>with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/>
                        </m:ctrlPr>
                      </m:sSubPr>
                      <m:e>
                        <m:r>
                          <a:rPr lang="es-ES" i="1"/>
                          <m:t>𝑛</m:t>
                        </m:r>
                      </m:e>
                      <m:sub>
                        <m:r>
                          <m:rPr>
                            <m:nor/>
                          </m:rPr>
                          <a:rPr lang="es-ES"/>
                          <m:t>eff</m:t>
                        </m:r>
                      </m:sub>
                    </m:sSub>
                    <m:r>
                      <a:rPr lang="es-ES"/>
                      <m:t>&gt;</m:t>
                    </m:r>
                    <m:sSub>
                      <m:sSubPr>
                        <m:ctrlPr>
                          <a:rPr lang="es-ES" i="1"/>
                        </m:ctrlPr>
                      </m:sSubPr>
                      <m:e>
                        <m:r>
                          <a:rPr lang="es-ES" i="1"/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s-ES"/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s-ES"/>
                              <m:t>SiO</m:t>
                            </m:r>
                          </m:e>
                          <m:sub>
                            <m:r>
                              <a:rPr lang="es-ES"/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s-ES" dirty="0"/>
                  <a:t>are </a:t>
                </a:r>
                <a:r>
                  <a:rPr lang="es-ES" dirty="0" err="1"/>
                  <a:t>physically</a:t>
                </a:r>
                <a:r>
                  <a:rPr lang="es-ES" dirty="0"/>
                  <a:t> </a:t>
                </a:r>
                <a:r>
                  <a:rPr lang="es-ES" dirty="0" err="1"/>
                  <a:t>bound</a:t>
                </a:r>
                <a:r>
                  <a:rPr lang="es-ES" dirty="0"/>
                  <a:t>. Below </a:t>
                </a:r>
                <a14:m>
                  <m:oMath xmlns:m="http://schemas.openxmlformats.org/officeDocument/2006/math">
                    <m:r>
                      <a:rPr lang="es-ES" i="1"/>
                      <m:t>𝑤</m:t>
                    </m:r>
                    <m:r>
                      <a:rPr lang="es-ES"/>
                      <m:t>≈1.25 </m:t>
                    </m:r>
                    <m:r>
                      <a:rPr lang="es-ES" i="1"/>
                      <m:t>𝜇</m:t>
                    </m:r>
                    <m:r>
                      <m:rPr>
                        <m:nor/>
                      </m:rPr>
                      <a:rPr lang="es-ES"/>
                      <m:t>m</m:t>
                    </m:r>
                  </m:oMath>
                </a14:m>
                <a:r>
                  <a:rPr lang="es-ES" dirty="0"/>
                  <a:t>, </a:t>
                </a:r>
                <a:r>
                  <a:rPr lang="es-ES" dirty="0" err="1"/>
                  <a:t>the</a:t>
                </a:r>
                <a:r>
                  <a:rPr lang="es-ES" dirty="0"/>
                  <a:t> </a:t>
                </a:r>
                <a:r>
                  <a:rPr lang="es-ES" dirty="0" err="1"/>
                  <a:t>waveguide</a:t>
                </a:r>
                <a:r>
                  <a:rPr lang="es-ES" dirty="0"/>
                  <a:t> </a:t>
                </a:r>
                <a:r>
                  <a:rPr lang="es-ES" dirty="0" err="1"/>
                  <a:t>operates</a:t>
                </a:r>
                <a:r>
                  <a:rPr lang="es-ES" dirty="0"/>
                  <a:t> in a </a:t>
                </a:r>
                <a:r>
                  <a:rPr lang="es-ES" dirty="0" err="1"/>
                  <a:t>strictly</a:t>
                </a:r>
                <a:r>
                  <a:rPr lang="es-ES" dirty="0"/>
                  <a:t> bimodal </a:t>
                </a:r>
                <a:r>
                  <a:rPr lang="es-ES" dirty="0" err="1"/>
                  <a:t>regime</a:t>
                </a:r>
                <a:r>
                  <a:rPr lang="es-ES" dirty="0"/>
                  <a:t> </a:t>
                </a:r>
                <a:r>
                  <a:rPr lang="es-ES" dirty="0" err="1"/>
                  <a:t>supporting</a:t>
                </a:r>
                <a:r>
                  <a:rPr lang="es-ES" dirty="0"/>
                  <a:t> </a:t>
                </a:r>
                <a:r>
                  <a:rPr lang="es-ES" dirty="0" err="1"/>
                  <a:t>solely</a:t>
                </a:r>
                <a:r>
                  <a:rPr lang="es-ES" dirty="0"/>
                  <a:t> </a:t>
                </a:r>
                <a:r>
                  <a:rPr lang="es-ES" dirty="0" err="1"/>
                  <a:t>the</a:t>
                </a:r>
                <a:r>
                  <a:rPr lang="es-ES" dirty="0"/>
                  <a:t> fundamental </a:t>
                </a:r>
                <a:r>
                  <a:rPr lang="es-ES" dirty="0" err="1"/>
                  <a:t>quasi</a:t>
                </a:r>
                <a:r>
                  <a:rPr lang="es-ES" dirty="0"/>
                  <a:t>-TE (Mode 0, red) and </a:t>
                </a:r>
                <a:r>
                  <a:rPr lang="es-ES" dirty="0" err="1"/>
                  <a:t>quasi</a:t>
                </a:r>
                <a:r>
                  <a:rPr lang="es-ES" dirty="0"/>
                  <a:t>-TM (Mode 1, blue) </a:t>
                </a:r>
                <a:r>
                  <a:rPr lang="es-ES" dirty="0" err="1"/>
                  <a:t>modes</a:t>
                </a:r>
                <a:r>
                  <a:rPr lang="es-ES" dirty="0"/>
                  <a:t>. Above </a:t>
                </a:r>
                <a:r>
                  <a:rPr lang="es-ES" dirty="0" err="1"/>
                  <a:t>this</a:t>
                </a:r>
                <a:r>
                  <a:rPr lang="es-ES" dirty="0"/>
                  <a:t> </a:t>
                </a:r>
                <a:r>
                  <a:rPr lang="es-ES" dirty="0" err="1"/>
                  <a:t>threshold</a:t>
                </a:r>
                <a:r>
                  <a:rPr lang="es-ES" dirty="0"/>
                  <a:t>, </a:t>
                </a:r>
                <a:r>
                  <a:rPr lang="es-ES" dirty="0" err="1"/>
                  <a:t>higher-order</a:t>
                </a:r>
                <a:r>
                  <a:rPr lang="es-ES" dirty="0"/>
                  <a:t> Mode 2 </a:t>
                </a:r>
                <a:r>
                  <a:rPr lang="es-ES" dirty="0" err="1"/>
                  <a:t>crosses</a:t>
                </a:r>
                <a:r>
                  <a:rPr lang="es-ES" dirty="0"/>
                  <a:t> </a:t>
                </a:r>
                <a:r>
                  <a:rPr lang="es-ES" dirty="0" err="1"/>
                  <a:t>into</a:t>
                </a:r>
                <a:r>
                  <a:rPr lang="es-ES" dirty="0"/>
                  <a:t> </a:t>
                </a:r>
                <a:r>
                  <a:rPr lang="es-ES" dirty="0" err="1"/>
                  <a:t>the</a:t>
                </a:r>
                <a:r>
                  <a:rPr lang="es-ES" dirty="0"/>
                  <a:t> </a:t>
                </a:r>
                <a:r>
                  <a:rPr lang="es-ES" dirty="0" err="1"/>
                  <a:t>guided</a:t>
                </a:r>
                <a:r>
                  <a:rPr lang="es-ES" dirty="0"/>
                  <a:t> </a:t>
                </a:r>
                <a:r>
                  <a:rPr lang="es-ES" dirty="0" err="1"/>
                  <a:t>regime</a:t>
                </a:r>
                <a:r>
                  <a:rPr lang="es-ES" dirty="0"/>
                  <a:t>, </a:t>
                </a:r>
                <a:r>
                  <a:rPr lang="es-ES" dirty="0" err="1"/>
                  <a:t>with</a:t>
                </a:r>
                <a:r>
                  <a:rPr lang="es-ES" dirty="0"/>
                  <a:t> Mode 3 </a:t>
                </a:r>
                <a:r>
                  <a:rPr lang="es-ES" dirty="0" err="1"/>
                  <a:t>following</a:t>
                </a:r>
                <a:r>
                  <a:rPr lang="es-ES" dirty="0"/>
                  <a:t> </a:t>
                </a:r>
                <a:r>
                  <a:rPr lang="es-ES" dirty="0" err="1"/>
                  <a:t>near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i="1"/>
                      <m:t>𝑤</m:t>
                    </m:r>
                    <m:r>
                      <a:rPr lang="es-ES"/>
                      <m:t>≈1.6 </m:t>
                    </m:r>
                    <m:r>
                      <a:rPr lang="es-ES" i="1"/>
                      <m:t>𝜇</m:t>
                    </m:r>
                    <m:r>
                      <m:rPr>
                        <m:nor/>
                      </m:rPr>
                      <a:rPr lang="es-ES"/>
                      <m:t>m</m:t>
                    </m:r>
                  </m:oMath>
                </a14:m>
                <a:r>
                  <a:rPr lang="es-ES" dirty="0"/>
                  <a:t>. </a:t>
                </a:r>
                <a:r>
                  <a:rPr lang="es-ES" dirty="0" err="1"/>
                  <a:t>Furthermore</a:t>
                </a:r>
                <a:r>
                  <a:rPr lang="es-ES" dirty="0"/>
                  <a:t>, </a:t>
                </a:r>
                <a:r>
                  <a:rPr lang="es-ES" dirty="0" err="1"/>
                  <a:t>the</a:t>
                </a:r>
                <a:r>
                  <a:rPr lang="es-ES" dirty="0"/>
                  <a:t> </a:t>
                </a:r>
                <a:r>
                  <a:rPr lang="es-ES" dirty="0" err="1"/>
                  <a:t>high</a:t>
                </a:r>
                <a:r>
                  <a:rPr lang="es-ES" dirty="0"/>
                  <a:t> </a:t>
                </a:r>
                <a:r>
                  <a:rPr lang="es-ES" dirty="0" err="1"/>
                  <a:t>core</a:t>
                </a:r>
                <a:r>
                  <a:rPr lang="es-ES" dirty="0"/>
                  <a:t> </a:t>
                </a:r>
                <a:r>
                  <a:rPr lang="es-ES" dirty="0" err="1"/>
                  <a:t>aspect</a:t>
                </a:r>
                <a:r>
                  <a:rPr lang="es-ES" dirty="0"/>
                  <a:t> ratio (</a:t>
                </a:r>
                <a14:m>
                  <m:oMath xmlns:m="http://schemas.openxmlformats.org/officeDocument/2006/math">
                    <m:r>
                      <a:rPr lang="es-ES" i="1"/>
                      <m:t>𝑤</m:t>
                    </m:r>
                    <m:r>
                      <a:rPr lang="es-ES"/>
                      <m:t>≥600</m:t>
                    </m:r>
                    <m:r>
                      <m:rPr>
                        <m:nor/>
                      </m:rPr>
                      <a:rPr lang="es-ES"/>
                      <m:t> nm</m:t>
                    </m:r>
                  </m:oMath>
                </a14:m>
                <a:r>
                  <a:rPr lang="es-ES" dirty="0"/>
                  <a:t> versus </a:t>
                </a:r>
                <a14:m>
                  <m:oMath xmlns:m="http://schemas.openxmlformats.org/officeDocument/2006/math">
                    <m:r>
                      <a:rPr lang="es-ES" i="1"/>
                      <m:t>ℎ</m:t>
                    </m:r>
                    <m:r>
                      <a:rPr lang="es-ES"/>
                      <m:t>=300</m:t>
                    </m:r>
                    <m:r>
                      <m:rPr>
                        <m:nor/>
                      </m:rPr>
                      <a:rPr lang="es-ES"/>
                      <m:t> nm</m:t>
                    </m:r>
                  </m:oMath>
                </a14:m>
                <a:r>
                  <a:rPr lang="es-ES" dirty="0"/>
                  <a:t>) </a:t>
                </a:r>
                <a:r>
                  <a:rPr lang="es-ES" dirty="0" err="1"/>
                  <a:t>preferentially</a:t>
                </a:r>
                <a:r>
                  <a:rPr lang="es-ES" dirty="0"/>
                  <a:t> confines </a:t>
                </a:r>
                <a:r>
                  <a:rPr lang="es-ES" dirty="0" err="1"/>
                  <a:t>horizontally</a:t>
                </a:r>
                <a:r>
                  <a:rPr lang="es-ES" dirty="0"/>
                  <a:t> </a:t>
                </a:r>
                <a:r>
                  <a:rPr lang="es-ES" dirty="0" err="1"/>
                  <a:t>polarized</a:t>
                </a:r>
                <a:r>
                  <a:rPr lang="es-ES" dirty="0"/>
                  <a:t> </a:t>
                </a:r>
                <a:r>
                  <a:rPr lang="es-ES" dirty="0" err="1"/>
                  <a:t>fields</a:t>
                </a:r>
                <a:r>
                  <a:rPr lang="es-ES" dirty="0"/>
                  <a:t>, </a:t>
                </a:r>
                <a:r>
                  <a:rPr lang="es-ES" dirty="0" err="1"/>
                  <a:t>yielding</a:t>
                </a:r>
                <a:r>
                  <a:rPr lang="es-ES" dirty="0"/>
                  <a:t> </a:t>
                </a:r>
                <a:r>
                  <a:rPr lang="es-ES" dirty="0" err="1"/>
                  <a:t>substantial</a:t>
                </a:r>
                <a:r>
                  <a:rPr lang="es-ES" dirty="0"/>
                  <a:t> modal </a:t>
                </a:r>
                <a:r>
                  <a:rPr lang="es-ES" dirty="0" err="1"/>
                  <a:t>birefringence</a:t>
                </a:r>
                <a:r>
                  <a:rPr lang="es-ES" dirty="0"/>
                  <a:t> </a:t>
                </a:r>
                <a:r>
                  <a:rPr lang="es-ES" dirty="0" err="1"/>
                  <a:t>with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/>
                        </m:ctrlPr>
                      </m:sSubPr>
                      <m:e>
                        <m:r>
                          <m:rPr>
                            <m:nor/>
                          </m:rPr>
                          <a:rPr lang="es-ES"/>
                          <m:t>TE</m:t>
                        </m:r>
                      </m:e>
                      <m:sub>
                        <m:r>
                          <a:rPr lang="es-ES"/>
                          <m:t>0</m:t>
                        </m:r>
                      </m:sub>
                    </m:sSub>
                  </m:oMath>
                </a14:m>
                <a:r>
                  <a:rPr lang="es-ES" dirty="0" err="1"/>
                  <a:t>exhibiting</a:t>
                </a:r>
                <a:r>
                  <a:rPr lang="es-ES" dirty="0"/>
                  <a:t> a </a:t>
                </a:r>
                <a:r>
                  <a:rPr lang="es-ES" dirty="0" err="1"/>
                  <a:t>consistently</a:t>
                </a:r>
                <a:r>
                  <a:rPr lang="es-ES" dirty="0"/>
                  <a:t> </a:t>
                </a:r>
                <a:r>
                  <a:rPr lang="es-ES" dirty="0" err="1"/>
                  <a:t>higher</a:t>
                </a:r>
                <a:r>
                  <a:rPr lang="es-ES" dirty="0"/>
                  <a:t> </a:t>
                </a:r>
                <a:r>
                  <a:rPr lang="es-ES" dirty="0" err="1"/>
                  <a:t>effective</a:t>
                </a:r>
                <a:r>
                  <a:rPr lang="es-ES" dirty="0"/>
                  <a:t> </a:t>
                </a:r>
                <a:r>
                  <a:rPr lang="es-ES" dirty="0" err="1"/>
                  <a:t>index</a:t>
                </a:r>
                <a:r>
                  <a:rPr lang="es-ES" dirty="0"/>
                  <a:t> </a:t>
                </a:r>
                <a:r>
                  <a:rPr lang="es-ES" dirty="0" err="1"/>
                  <a:t>than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/>
                        </m:ctrlPr>
                      </m:sSubPr>
                      <m:e>
                        <m:r>
                          <m:rPr>
                            <m:nor/>
                          </m:rPr>
                          <a:rPr lang="es-ES"/>
                          <m:t>TM</m:t>
                        </m:r>
                      </m:e>
                      <m:sub>
                        <m:r>
                          <a:rPr lang="es-ES"/>
                          <m:t>0</m:t>
                        </m:r>
                      </m:sub>
                    </m:sSub>
                  </m:oMath>
                </a14:m>
                <a:r>
                  <a:rPr lang="es-ES" dirty="0" err="1"/>
                  <a:t>across</a:t>
                </a:r>
                <a:r>
                  <a:rPr lang="es-ES" dirty="0"/>
                  <a:t> </a:t>
                </a:r>
                <a:r>
                  <a:rPr lang="es-ES" dirty="0" err="1"/>
                  <a:t>the</a:t>
                </a:r>
                <a:r>
                  <a:rPr lang="es-ES" dirty="0"/>
                  <a:t> </a:t>
                </a:r>
                <a:r>
                  <a:rPr lang="es-ES" dirty="0" err="1"/>
                  <a:t>entire</a:t>
                </a:r>
                <a:r>
                  <a:rPr lang="es-ES" dirty="0"/>
                  <a:t> </a:t>
                </a:r>
                <a:r>
                  <a:rPr lang="es-ES" dirty="0" err="1"/>
                  <a:t>sweep</a:t>
                </a:r>
                <a:r>
                  <a:rPr lang="es-ES" dirty="0"/>
                  <a:t>.</a:t>
                </a: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82A62DD6-5488-72A1-9926-0CAEE5908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339" y="1447800"/>
                <a:ext cx="11199971" cy="2422010"/>
              </a:xfrm>
              <a:prstGeom prst="rect">
                <a:avLst/>
              </a:prstGeom>
              <a:blipFill>
                <a:blip r:embed="rId4"/>
                <a:stretch>
                  <a:fillRect l="-326" t="-746" r="-271" b="-1493"/>
                </a:stretch>
              </a:blipFill>
              <a:ln w="28575">
                <a:solidFill>
                  <a:srgbClr val="E0700D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0117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DA0F9-B230-D9FC-3CE7-03BD08CF5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394400B4-EE16-8E85-AB54-E82FE3B29345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2500" dirty="0"/>
                  <a:t>Learning outcome #3 – Waveguide compact model</a:t>
                </a:r>
                <a:br>
                  <a:rPr lang="en-US" sz="2500" spc="-5" dirty="0">
                    <a:latin typeface="+mj-lt"/>
                    <a:cs typeface="Lucida Sans"/>
                  </a:rPr>
                </a:br>
                <a:r>
                  <a:rPr lang="en-US" b="0" dirty="0"/>
                  <a:t>Let’s model the waveguide using a second order polynomial: </a:t>
                </a:r>
                <a:br>
                  <a:rPr lang="en-US" b="0" dirty="0"/>
                </a:b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>
                  <a:rPr lang="en-US" b="0" dirty="0"/>
                </a:br>
                <a:endParaRPr lang="en-US" sz="2500" b="0" dirty="0">
                  <a:latin typeface="+mj-lt"/>
                  <a:cs typeface="Lucida Sans"/>
                </a:endParaRPr>
              </a:p>
            </p:txBody>
          </p:sp>
        </mc:Choice>
        <mc:Fallback xmlns="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394400B4-EE16-8E85-AB54-E82FE3B2934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  <a:blipFill>
                <a:blip r:embed="rId3"/>
                <a:stretch>
                  <a:fillRect l="-1664" t="-7386" b="-454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3" name="Gráfico 82">
            <a:extLst>
              <a:ext uri="{FF2B5EF4-FFF2-40B4-BE49-F238E27FC236}">
                <a16:creationId xmlns:a16="http://schemas.microsoft.com/office/drawing/2014/main" id="{4D53B68D-17ED-7EFB-F2B4-10DA7A772E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9AB8697-C1EE-6E9A-6550-ACA2C3AE663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70D4A6C-5B37-EDF5-6242-74B16127E96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440F587-93A3-E474-C0B0-883BB9DAFD85}"/>
                  </a:ext>
                </a:extLst>
              </p:cNvPr>
              <p:cNvSpPr txBox="1"/>
              <p:nvPr/>
            </p:nvSpPr>
            <p:spPr>
              <a:xfrm>
                <a:off x="609441" y="4860334"/>
                <a:ext cx="11198542" cy="123546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E0700D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ES" sz="1200" dirty="0" err="1"/>
                  <a:t>By</a:t>
                </a:r>
                <a:r>
                  <a:rPr lang="es-ES" sz="1200" dirty="0"/>
                  <a:t> </a:t>
                </a:r>
                <a:r>
                  <a:rPr lang="es-ES" sz="1200" dirty="0" err="1"/>
                  <a:t>applying</a:t>
                </a:r>
                <a:r>
                  <a:rPr lang="es-ES" sz="1200" dirty="0"/>
                  <a:t> a </a:t>
                </a:r>
                <a:r>
                  <a:rPr lang="es-ES" sz="1200" dirty="0" err="1"/>
                  <a:t>second-order</a:t>
                </a:r>
                <a:r>
                  <a:rPr lang="es-ES" sz="1200" dirty="0"/>
                  <a:t> Taylor </a:t>
                </a:r>
                <a:r>
                  <a:rPr lang="es-ES" sz="1200" dirty="0" err="1"/>
                  <a:t>expansion</a:t>
                </a:r>
                <a:r>
                  <a:rPr lang="es-ES" sz="1200" dirty="0"/>
                  <a:t> </a:t>
                </a:r>
                <a:r>
                  <a:rPr lang="es-ES" sz="1200" dirty="0" err="1"/>
                  <a:t>centered</a:t>
                </a:r>
                <a:r>
                  <a:rPr lang="es-ES" sz="1200" dirty="0"/>
                  <a:t>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b="0" i="1"/>
                        </m:ctrlPr>
                      </m:sSubPr>
                      <m:e>
                        <m:r>
                          <a:rPr lang="es-ES" sz="1200" b="0" i="1"/>
                          <m:t>𝜆</m:t>
                        </m:r>
                      </m:e>
                      <m:sub>
                        <m:r>
                          <a:rPr lang="es-ES" sz="1200" b="0" i="1"/>
                          <m:t>0</m:t>
                        </m:r>
                      </m:sub>
                    </m:sSub>
                    <m:r>
                      <a:rPr lang="es-ES" sz="1200" b="0"/>
                      <m:t>=</m:t>
                    </m:r>
                    <m:r>
                      <a:rPr lang="es-ES" sz="1200" b="0" i="1"/>
                      <m:t>1</m:t>
                    </m:r>
                    <m:r>
                      <a:rPr lang="es-ES" sz="1200" b="0"/>
                      <m:t>.</m:t>
                    </m:r>
                    <m:r>
                      <a:rPr lang="es-ES" sz="1200" b="0" i="1"/>
                      <m:t>55</m:t>
                    </m:r>
                    <m:r>
                      <a:rPr lang="es-ES" sz="1200" b="0"/>
                      <m:t> </m:t>
                    </m:r>
                    <m:r>
                      <a:rPr lang="es-ES" sz="1200" b="0" i="1"/>
                      <m:t>𝜇</m:t>
                    </m:r>
                    <m:r>
                      <a:rPr lang="es-ES" sz="1200" b="0" i="1"/>
                      <m:t>𝑚</m:t>
                    </m:r>
                  </m:oMath>
                </a14:m>
                <a:r>
                  <a:rPr lang="es-ES" sz="1200" dirty="0"/>
                  <a:t>,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polynomial</a:t>
                </a:r>
                <a:r>
                  <a:rPr lang="es-ES" sz="1200" dirty="0"/>
                  <a:t> </a:t>
                </a:r>
                <a:r>
                  <a:rPr lang="es-ES" sz="1200" dirty="0" err="1"/>
                  <a:t>coefficients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map</a:t>
                </a:r>
                <a:r>
                  <a:rPr lang="es-ES" sz="1200" dirty="0"/>
                  <a:t> </a:t>
                </a:r>
                <a:r>
                  <a:rPr lang="es-ES" sz="1200" dirty="0" err="1"/>
                  <a:t>directly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to</a:t>
                </a:r>
                <a:r>
                  <a:rPr lang="es-ES" sz="1200" dirty="0"/>
                  <a:t> </a:t>
                </a:r>
                <a:r>
                  <a:rPr lang="es-ES" sz="1200" dirty="0" err="1"/>
                  <a:t>key</a:t>
                </a:r>
                <a:r>
                  <a:rPr lang="es-ES" sz="1200" dirty="0"/>
                  <a:t> </a:t>
                </a:r>
                <a:r>
                  <a:rPr lang="es-ES" sz="1200" dirty="0" err="1"/>
                  <a:t>physical</a:t>
                </a:r>
                <a:r>
                  <a:rPr lang="es-ES" sz="1200" dirty="0"/>
                  <a:t> </a:t>
                </a:r>
                <a:r>
                  <a:rPr lang="es-ES" sz="1200" dirty="0" err="1"/>
                  <a:t>properties</a:t>
                </a:r>
                <a:r>
                  <a:rPr lang="es-ES" sz="1200" dirty="0"/>
                  <a:t>: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zero-order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term</a:t>
                </a:r>
                <a:r>
                  <a:rPr lang="es-ES" sz="1200" dirty="0"/>
                  <a:t> defines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modal </a:t>
                </a:r>
                <a:r>
                  <a:rPr lang="es-ES" sz="1200" dirty="0" err="1"/>
                  <a:t>effective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index</a:t>
                </a:r>
                <a:r>
                  <a:rPr lang="es-ES" sz="12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b="0" i="1"/>
                        </m:ctrlPr>
                      </m:sSubPr>
                      <m:e>
                        <m:r>
                          <a:rPr lang="es-ES" sz="1200" b="0" i="1"/>
                          <m:t>𝑛</m:t>
                        </m:r>
                      </m:e>
                      <m:sub>
                        <m:r>
                          <a:rPr lang="es-ES" sz="1200" b="0" i="1"/>
                          <m:t>𝑒𝑓𝑓</m:t>
                        </m:r>
                      </m:sub>
                    </m:sSub>
                    <m:d>
                      <m:dPr>
                        <m:ctrlPr>
                          <a:rPr lang="es-ES" sz="1200" i="1"/>
                        </m:ctrlPr>
                      </m:dPr>
                      <m:e>
                        <m:sSub>
                          <m:sSubPr>
                            <m:ctrlPr>
                              <a:rPr lang="es-ES" sz="1200" b="0" i="1"/>
                            </m:ctrlPr>
                          </m:sSubPr>
                          <m:e>
                            <m:r>
                              <a:rPr lang="es-ES" sz="1200" b="0" i="1"/>
                              <m:t>𝜆</m:t>
                            </m:r>
                          </m:e>
                          <m:sub>
                            <m:r>
                              <a:rPr lang="es-ES" sz="1200" b="0" i="1"/>
                              <m:t>0</m:t>
                            </m:r>
                          </m:sub>
                        </m:sSub>
                      </m:e>
                    </m:d>
                    <m:r>
                      <a:rPr lang="es-ES" sz="1200" b="0"/>
                      <m:t>=</m:t>
                    </m:r>
                    <m:sSub>
                      <m:sSubPr>
                        <m:ctrlPr>
                          <a:rPr lang="es-ES" sz="1200" b="0" i="1"/>
                        </m:ctrlPr>
                      </m:sSubPr>
                      <m:e>
                        <m:r>
                          <a:rPr lang="es-ES" sz="1200" b="0" i="1"/>
                          <m:t>𝑛</m:t>
                        </m:r>
                      </m:e>
                      <m:sub>
                        <m:r>
                          <a:rPr lang="es-ES" sz="1200" b="0" i="1"/>
                          <m:t>1</m:t>
                        </m:r>
                      </m:sub>
                    </m:sSub>
                  </m:oMath>
                </a14:m>
                <a:r>
                  <a:rPr lang="es-ES" sz="1200" dirty="0"/>
                  <a:t>),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linear </a:t>
                </a:r>
                <a:r>
                  <a:rPr lang="es-ES" sz="1200" dirty="0" err="1"/>
                  <a:t>slope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governs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optical</a:t>
                </a:r>
                <a:r>
                  <a:rPr lang="es-ES" sz="1200" dirty="0"/>
                  <a:t> </a:t>
                </a:r>
                <a:r>
                  <a:rPr lang="es-ES" sz="1200" dirty="0" err="1"/>
                  <a:t>group</a:t>
                </a:r>
                <a:r>
                  <a:rPr lang="es-ES" sz="1200" dirty="0"/>
                  <a:t> </a:t>
                </a:r>
                <a:r>
                  <a:rPr lang="es-ES" sz="1200" dirty="0" err="1"/>
                  <a:t>index</a:t>
                </a:r>
                <a:r>
                  <a:rPr lang="es-ES" sz="12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b="0" i="1"/>
                        </m:ctrlPr>
                      </m:sSubPr>
                      <m:e>
                        <m:r>
                          <a:rPr lang="es-ES" sz="1200" b="0" i="1"/>
                          <m:t>𝑛</m:t>
                        </m:r>
                      </m:e>
                      <m:sub>
                        <m:r>
                          <a:rPr lang="es-ES" sz="1200" b="0" i="1"/>
                          <m:t>𝑔</m:t>
                        </m:r>
                      </m:sub>
                    </m:sSub>
                    <m:d>
                      <m:dPr>
                        <m:ctrlPr>
                          <a:rPr lang="es-ES" sz="1200" i="1"/>
                        </m:ctrlPr>
                      </m:dPr>
                      <m:e>
                        <m:sSub>
                          <m:sSubPr>
                            <m:ctrlPr>
                              <a:rPr lang="es-ES" sz="1200" b="0" i="1"/>
                            </m:ctrlPr>
                          </m:sSubPr>
                          <m:e>
                            <m:r>
                              <a:rPr lang="es-ES" sz="1200" b="0" i="1"/>
                              <m:t>𝜆</m:t>
                            </m:r>
                          </m:e>
                          <m:sub>
                            <m:r>
                              <a:rPr lang="es-ES" sz="1200" b="0" i="1"/>
                              <m:t>0</m:t>
                            </m:r>
                          </m:sub>
                        </m:sSub>
                      </m:e>
                    </m:d>
                    <m:r>
                      <a:rPr lang="es-ES" sz="1200" b="0"/>
                      <m:t>=</m:t>
                    </m:r>
                    <m:sSub>
                      <m:sSubPr>
                        <m:ctrlPr>
                          <a:rPr lang="es-ES" sz="1200" b="0" i="1"/>
                        </m:ctrlPr>
                      </m:sSubPr>
                      <m:e>
                        <m:r>
                          <a:rPr lang="es-ES" sz="1200" b="0" i="1"/>
                          <m:t>𝑛</m:t>
                        </m:r>
                      </m:e>
                      <m:sub>
                        <m:r>
                          <a:rPr lang="es-ES" sz="1200" b="0" i="1"/>
                          <m:t>1</m:t>
                        </m:r>
                      </m:sub>
                    </m:sSub>
                    <m:r>
                      <a:rPr lang="es-ES" sz="1200" b="0"/>
                      <m:t>−</m:t>
                    </m:r>
                    <m:sSub>
                      <m:sSubPr>
                        <m:ctrlPr>
                          <a:rPr lang="es-ES" sz="1200" b="0" i="1"/>
                        </m:ctrlPr>
                      </m:sSubPr>
                      <m:e>
                        <m:r>
                          <a:rPr lang="es-ES" sz="1200" b="0" i="1"/>
                          <m:t>𝑛</m:t>
                        </m:r>
                      </m:e>
                      <m:sub>
                        <m:r>
                          <a:rPr lang="es-ES" sz="1200" b="0" i="1"/>
                          <m:t>2</m:t>
                        </m:r>
                      </m:sub>
                    </m:sSub>
                    <m:sSub>
                      <m:sSubPr>
                        <m:ctrlPr>
                          <a:rPr lang="es-ES" sz="1200" b="0" i="1"/>
                        </m:ctrlPr>
                      </m:sSubPr>
                      <m:e>
                        <m:r>
                          <a:rPr lang="es-ES" sz="1200" b="0" i="1"/>
                          <m:t>𝜆</m:t>
                        </m:r>
                      </m:e>
                      <m:sub>
                        <m:r>
                          <a:rPr lang="es-ES" sz="1200" b="0" i="1"/>
                          <m:t>0</m:t>
                        </m:r>
                      </m:sub>
                    </m:sSub>
                  </m:oMath>
                </a14:m>
                <a:r>
                  <a:rPr lang="es-ES" sz="1200" dirty="0"/>
                  <a:t>), and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quadratic</a:t>
                </a:r>
                <a:r>
                  <a:rPr lang="es-ES" sz="1200" dirty="0"/>
                  <a:t> </a:t>
                </a:r>
                <a:r>
                  <a:rPr lang="es-ES" sz="1200" dirty="0" err="1"/>
                  <a:t>curvature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yields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chromatic</a:t>
                </a:r>
                <a:r>
                  <a:rPr lang="es-ES" sz="1200" dirty="0"/>
                  <a:t> </a:t>
                </a:r>
                <a:r>
                  <a:rPr lang="es-ES" sz="1200" dirty="0" err="1"/>
                  <a:t>dispersion</a:t>
                </a:r>
                <a:r>
                  <a:rPr lang="es-ES" sz="1200" dirty="0"/>
                  <a:t> </a:t>
                </a:r>
                <a:r>
                  <a:rPr lang="es-ES" sz="1200" dirty="0" err="1"/>
                  <a:t>parameter</a:t>
                </a:r>
                <a:r>
                  <a:rPr lang="es-ES" sz="1200" dirty="0"/>
                  <a:t> (</a:t>
                </a:r>
                <a14:m>
                  <m:oMath xmlns:m="http://schemas.openxmlformats.org/officeDocument/2006/math">
                    <m:r>
                      <a:rPr lang="es-ES" sz="1200" b="0" i="1"/>
                      <m:t>𝐷</m:t>
                    </m:r>
                    <m:r>
                      <a:rPr lang="es-ES" sz="1200" b="0"/>
                      <m:t>=−</m:t>
                    </m:r>
                    <m:r>
                      <a:rPr lang="es-ES" sz="1200" b="0" i="1"/>
                      <m:t>2</m:t>
                    </m:r>
                    <m:sSub>
                      <m:sSubPr>
                        <m:ctrlPr>
                          <a:rPr lang="es-ES" sz="1200" b="0" i="1"/>
                        </m:ctrlPr>
                      </m:sSubPr>
                      <m:e>
                        <m:r>
                          <a:rPr lang="es-ES" sz="1200" b="0" i="1"/>
                          <m:t>𝜆</m:t>
                        </m:r>
                      </m:e>
                      <m:sub>
                        <m:r>
                          <a:rPr lang="es-ES" sz="1200" b="0" i="1"/>
                          <m:t>0</m:t>
                        </m:r>
                      </m:sub>
                    </m:sSub>
                    <m:sSub>
                      <m:sSubPr>
                        <m:ctrlPr>
                          <a:rPr lang="es-ES" sz="1200" b="0" i="1"/>
                        </m:ctrlPr>
                      </m:sSubPr>
                      <m:e>
                        <m:r>
                          <a:rPr lang="es-ES" sz="1200" b="0" i="1"/>
                          <m:t>𝑛</m:t>
                        </m:r>
                      </m:e>
                      <m:sub>
                        <m:r>
                          <a:rPr lang="es-ES" sz="1200" b="0" i="1"/>
                          <m:t>3</m:t>
                        </m:r>
                      </m:sub>
                    </m:sSub>
                    <m:r>
                      <a:rPr lang="es-ES" sz="1200" b="0"/>
                      <m:t>/</m:t>
                    </m:r>
                    <m:r>
                      <a:rPr lang="es-ES" sz="1200" b="0" i="1"/>
                      <m:t>𝑐</m:t>
                    </m:r>
                  </m:oMath>
                </a14:m>
                <a:r>
                  <a:rPr lang="es-ES" sz="1200" dirty="0"/>
                  <a:t>). </a:t>
                </a:r>
                <a:r>
                  <a:rPr lang="es-ES" sz="1200" dirty="0" err="1"/>
                  <a:t>Introducing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</a:t>
                </a:r>
                <a14:m>
                  <m:oMath xmlns:m="http://schemas.openxmlformats.org/officeDocument/2006/math">
                    <m:r>
                      <a:rPr lang="es-ES" sz="1200" b="0" i="1"/>
                      <m:t>150</m:t>
                    </m:r>
                    <m:r>
                      <a:rPr lang="es-ES" sz="1200" b="0"/>
                      <m:t> </m:t>
                    </m:r>
                    <m:r>
                      <a:rPr lang="es-ES" sz="1200" b="0" i="1"/>
                      <m:t>𝑛𝑚</m:t>
                    </m:r>
                  </m:oMath>
                </a14:m>
                <a:r>
                  <a:rPr lang="es-ES" sz="1200" dirty="0"/>
                  <a:t>residual </a:t>
                </a:r>
                <a:r>
                  <a:rPr lang="es-ES" sz="1200" dirty="0" err="1"/>
                  <a:t>slab</a:t>
                </a:r>
                <a:r>
                  <a:rPr lang="es-ES" sz="1200" dirty="0"/>
                  <a:t> in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shallow-etched</a:t>
                </a:r>
                <a:r>
                  <a:rPr lang="es-ES" sz="1200" dirty="0"/>
                  <a:t> </a:t>
                </a:r>
                <a:r>
                  <a:rPr lang="es-ES" sz="1200" dirty="0" err="1"/>
                  <a:t>rib</a:t>
                </a:r>
                <a:r>
                  <a:rPr lang="es-ES" sz="1200" dirty="0"/>
                  <a:t> </a:t>
                </a:r>
                <a:r>
                  <a:rPr lang="es-ES" sz="1200" dirty="0" err="1"/>
                  <a:t>waveguide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increases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surrounding</a:t>
                </a:r>
                <a:r>
                  <a:rPr lang="es-ES" sz="1200" dirty="0"/>
                  <a:t> </a:t>
                </a:r>
                <a:r>
                  <a:rPr lang="es-ES" sz="1200" dirty="0" err="1"/>
                  <a:t>high-index</a:t>
                </a:r>
                <a:r>
                  <a:rPr lang="es-ES" sz="1200" dirty="0"/>
                  <a:t> </a:t>
                </a:r>
                <a:r>
                  <a:rPr lang="es-ES" sz="1200" dirty="0" err="1"/>
                  <a:t>volume</a:t>
                </a:r>
                <a:r>
                  <a:rPr lang="es-ES" sz="1200" dirty="0"/>
                  <a:t>, </a:t>
                </a:r>
                <a:r>
                  <a:rPr lang="es-ES" sz="1200" dirty="0" err="1"/>
                  <a:t>systematically</a:t>
                </a:r>
                <a:r>
                  <a:rPr lang="es-ES" sz="1200" dirty="0"/>
                  <a:t> </a:t>
                </a:r>
                <a:r>
                  <a:rPr lang="es-ES" sz="1200" dirty="0" err="1"/>
                  <a:t>raising</a:t>
                </a:r>
                <a:r>
                  <a:rPr lang="es-E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b="0" i="1"/>
                        </m:ctrlPr>
                      </m:sSubPr>
                      <m:e>
                        <m:r>
                          <a:rPr lang="es-ES" sz="1200" b="0" i="1"/>
                          <m:t>𝑛</m:t>
                        </m:r>
                      </m:e>
                      <m:sub>
                        <m:r>
                          <a:rPr lang="es-ES" sz="1200" b="0" i="1"/>
                          <m:t>1</m:t>
                        </m:r>
                      </m:sub>
                    </m:sSub>
                  </m:oMath>
                </a14:m>
                <a:r>
                  <a:rPr lang="es-ES" sz="1200" dirty="0" err="1"/>
                  <a:t>for</a:t>
                </a:r>
                <a:r>
                  <a:rPr lang="es-ES" sz="1200" dirty="0"/>
                  <a:t> </a:t>
                </a:r>
                <a:r>
                  <a:rPr lang="es-ES" sz="1200" dirty="0" err="1"/>
                  <a:t>both</a:t>
                </a:r>
                <a:r>
                  <a:rPr lang="es-E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b="0" i="1"/>
                        </m:ctrlPr>
                      </m:sSubPr>
                      <m:e>
                        <m:r>
                          <a:rPr lang="es-ES" sz="1200" b="0" i="1"/>
                          <m:t>𝑇𝐸</m:t>
                        </m:r>
                      </m:e>
                      <m:sub>
                        <m:r>
                          <a:rPr lang="es-ES" sz="1200" b="0" i="1"/>
                          <m:t>0</m:t>
                        </m:r>
                      </m:sub>
                    </m:sSub>
                  </m:oMath>
                </a14:m>
                <a:r>
                  <a:rPr lang="es-ES" sz="12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b="0" i="1"/>
                        </m:ctrlPr>
                      </m:sSubPr>
                      <m:e>
                        <m:r>
                          <a:rPr lang="es-ES" sz="1200" b="0" i="1"/>
                          <m:t>𝑇𝑀</m:t>
                        </m:r>
                      </m:e>
                      <m:sub>
                        <m:r>
                          <a:rPr lang="es-ES" sz="1200" b="0" i="1"/>
                          <m:t>0</m:t>
                        </m:r>
                      </m:sub>
                    </m:sSub>
                  </m:oMath>
                </a14:m>
                <a:r>
                  <a:rPr lang="es-ES" sz="1200" dirty="0" err="1"/>
                  <a:t>modes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compared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to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deep-etched</a:t>
                </a:r>
                <a:r>
                  <a:rPr lang="es-ES" sz="1200" dirty="0"/>
                  <a:t> </a:t>
                </a:r>
                <a:r>
                  <a:rPr lang="es-ES" sz="1200" dirty="0" err="1"/>
                  <a:t>strip</a:t>
                </a:r>
                <a:r>
                  <a:rPr lang="es-ES" sz="1200" dirty="0"/>
                  <a:t> </a:t>
                </a:r>
                <a:r>
                  <a:rPr lang="es-ES" sz="1200" dirty="0" err="1"/>
                  <a:t>geometry</a:t>
                </a:r>
                <a:r>
                  <a:rPr lang="es-ES" sz="1200" dirty="0"/>
                  <a:t>. </a:t>
                </a:r>
                <a:r>
                  <a:rPr lang="es-ES" sz="1200" dirty="0" err="1"/>
                  <a:t>Across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both</a:t>
                </a:r>
                <a:r>
                  <a:rPr lang="es-ES" sz="1200" dirty="0"/>
                  <a:t> </a:t>
                </a:r>
                <a:r>
                  <a:rPr lang="es-ES" sz="1200" dirty="0" err="1"/>
                  <a:t>profiles</a:t>
                </a:r>
                <a:r>
                  <a:rPr lang="es-ES" sz="1200" dirty="0"/>
                  <a:t>,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fundamental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b="0" i="1"/>
                        </m:ctrlPr>
                      </m:sSubPr>
                      <m:e>
                        <m:r>
                          <a:rPr lang="es-ES" sz="1200" b="0" i="1"/>
                          <m:t>𝑇𝐸</m:t>
                        </m:r>
                      </m:e>
                      <m:sub>
                        <m:r>
                          <a:rPr lang="es-ES" sz="1200" b="0" i="1"/>
                          <m:t>0</m:t>
                        </m:r>
                      </m:sub>
                    </m:sSub>
                  </m:oMath>
                </a14:m>
                <a:r>
                  <a:rPr lang="es-ES" sz="1200" dirty="0" err="1"/>
                  <a:t>mode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exhibits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stronger</a:t>
                </a:r>
                <a:r>
                  <a:rPr lang="es-ES" sz="1200" dirty="0"/>
                  <a:t> </a:t>
                </a:r>
                <a:r>
                  <a:rPr lang="es-ES" sz="1200" dirty="0" err="1"/>
                  <a:t>spatial</a:t>
                </a:r>
                <a:r>
                  <a:rPr lang="es-ES" sz="1200" dirty="0"/>
                  <a:t> </a:t>
                </a:r>
                <a:r>
                  <a:rPr lang="es-ES" sz="1200" dirty="0" err="1"/>
                  <a:t>confinement</a:t>
                </a:r>
                <a:r>
                  <a:rPr lang="es-ES" sz="1200" dirty="0"/>
                  <a:t> and a </a:t>
                </a:r>
                <a:r>
                  <a:rPr lang="es-ES" sz="1200" dirty="0" err="1"/>
                  <a:t>higher</a:t>
                </a:r>
                <a:r>
                  <a:rPr lang="es-ES" sz="1200" dirty="0"/>
                  <a:t> </a:t>
                </a:r>
                <a:r>
                  <a:rPr lang="es-ES" sz="1200" dirty="0" err="1"/>
                  <a:t>group</a:t>
                </a:r>
                <a:r>
                  <a:rPr lang="es-ES" sz="1200" dirty="0"/>
                  <a:t> </a:t>
                </a:r>
                <a:r>
                  <a:rPr lang="es-ES" sz="1200" dirty="0" err="1"/>
                  <a:t>index</a:t>
                </a:r>
                <a:r>
                  <a:rPr lang="es-ES" sz="12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b="0" i="1"/>
                        </m:ctrlPr>
                      </m:sSubPr>
                      <m:e>
                        <m:r>
                          <a:rPr lang="es-ES" sz="1200" b="0" i="1"/>
                          <m:t>𝑛</m:t>
                        </m:r>
                      </m:e>
                      <m:sub>
                        <m:r>
                          <a:rPr lang="es-ES" sz="1200" b="0" i="1"/>
                          <m:t>𝑔</m:t>
                        </m:r>
                      </m:sub>
                    </m:sSub>
                    <m:r>
                      <a:rPr lang="es-ES" sz="1200" b="0"/>
                      <m:t>≈</m:t>
                    </m:r>
                    <m:r>
                      <a:rPr lang="es-ES" sz="1200" b="0" i="1"/>
                      <m:t>1</m:t>
                    </m:r>
                    <m:r>
                      <a:rPr lang="es-ES" sz="1200" b="0"/>
                      <m:t>.</m:t>
                    </m:r>
                    <m:r>
                      <a:rPr lang="es-ES" sz="1200" b="0" i="1"/>
                      <m:t>92</m:t>
                    </m:r>
                    <m:r>
                      <a:rPr lang="es-ES" sz="1200" b="0"/>
                      <m:t>−</m:t>
                    </m:r>
                    <m:r>
                      <a:rPr lang="es-ES" sz="1200" b="0" i="1"/>
                      <m:t>1</m:t>
                    </m:r>
                    <m:r>
                      <a:rPr lang="es-ES" sz="1200" b="0"/>
                      <m:t>.</m:t>
                    </m:r>
                    <m:r>
                      <a:rPr lang="es-ES" sz="1200" b="0" i="1"/>
                      <m:t>94</m:t>
                    </m:r>
                  </m:oMath>
                </a14:m>
                <a:r>
                  <a:rPr lang="es-ES" sz="1200" dirty="0"/>
                  <a:t>) </a:t>
                </a:r>
                <a:r>
                  <a:rPr lang="es-ES" sz="1200" dirty="0" err="1"/>
                  <a:t>than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b="0" i="1"/>
                        </m:ctrlPr>
                      </m:sSubPr>
                      <m:e>
                        <m:r>
                          <a:rPr lang="es-ES" sz="1200" b="0" i="1"/>
                          <m:t>𝑇𝑀</m:t>
                        </m:r>
                      </m:e>
                      <m:sub>
                        <m:r>
                          <a:rPr lang="es-ES" sz="1200" b="0" i="1"/>
                          <m:t>0</m:t>
                        </m:r>
                      </m:sub>
                    </m:sSub>
                  </m:oMath>
                </a14:m>
                <a:r>
                  <a:rPr lang="es-ES" sz="1200" dirty="0" err="1"/>
                  <a:t>mode</a:t>
                </a:r>
                <a:r>
                  <a:rPr lang="es-ES" sz="12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b="0" i="1"/>
                        </m:ctrlPr>
                      </m:sSubPr>
                      <m:e>
                        <m:r>
                          <a:rPr lang="es-ES" sz="1200" b="0" i="1"/>
                          <m:t>𝑛</m:t>
                        </m:r>
                      </m:e>
                      <m:sub>
                        <m:r>
                          <a:rPr lang="es-ES" sz="1200" b="0" i="1"/>
                          <m:t>𝑔</m:t>
                        </m:r>
                      </m:sub>
                    </m:sSub>
                    <m:r>
                      <a:rPr lang="es-ES" sz="1200" b="0"/>
                      <m:t>≈</m:t>
                    </m:r>
                    <m:r>
                      <a:rPr lang="es-ES" sz="1200" b="0" i="1"/>
                      <m:t>1</m:t>
                    </m:r>
                    <m:r>
                      <a:rPr lang="es-ES" sz="1200" b="0"/>
                      <m:t>.</m:t>
                    </m:r>
                    <m:r>
                      <a:rPr lang="es-ES" sz="1200" b="0" i="1"/>
                      <m:t>75</m:t>
                    </m:r>
                    <m:r>
                      <a:rPr lang="es-ES" sz="1200" b="0"/>
                      <m:t>−</m:t>
                    </m:r>
                    <m:r>
                      <a:rPr lang="es-ES" sz="1200" b="0" i="1"/>
                      <m:t>1</m:t>
                    </m:r>
                    <m:r>
                      <a:rPr lang="es-ES" sz="1200" b="0"/>
                      <m:t>.</m:t>
                    </m:r>
                    <m:r>
                      <a:rPr lang="es-ES" sz="1200" b="0" i="1"/>
                      <m:t>77</m:t>
                    </m:r>
                  </m:oMath>
                </a14:m>
                <a:r>
                  <a:rPr lang="es-ES" sz="1200" dirty="0"/>
                  <a:t>), </a:t>
                </a:r>
                <a:r>
                  <a:rPr lang="es-ES" sz="1200" dirty="0" err="1"/>
                  <a:t>denoting</a:t>
                </a:r>
                <a:r>
                  <a:rPr lang="es-ES" sz="1200" dirty="0"/>
                  <a:t> </a:t>
                </a:r>
                <a:r>
                  <a:rPr lang="es-ES" sz="1200" dirty="0" err="1"/>
                  <a:t>greater</a:t>
                </a:r>
                <a:r>
                  <a:rPr lang="es-ES" sz="1200" dirty="0"/>
                  <a:t> </a:t>
                </a:r>
                <a:r>
                  <a:rPr lang="es-ES" sz="1200" dirty="0" err="1"/>
                  <a:t>optical</a:t>
                </a:r>
                <a:r>
                  <a:rPr lang="es-ES" sz="1200" dirty="0"/>
                  <a:t> </a:t>
                </a:r>
                <a:r>
                  <a:rPr lang="es-ES" sz="1200" dirty="0" err="1"/>
                  <a:t>density</a:t>
                </a:r>
                <a:r>
                  <a:rPr lang="es-ES" sz="1200" dirty="0"/>
                  <a:t> and </a:t>
                </a:r>
                <a:r>
                  <a:rPr lang="es-ES" sz="1200" dirty="0" err="1"/>
                  <a:t>group</a:t>
                </a:r>
                <a:r>
                  <a:rPr lang="es-ES" sz="1200" dirty="0"/>
                  <a:t> </a:t>
                </a:r>
                <a:r>
                  <a:rPr lang="es-ES" sz="1200" dirty="0" err="1"/>
                  <a:t>delay</a:t>
                </a:r>
                <a:r>
                  <a:rPr lang="es-ES" sz="1200" dirty="0"/>
                  <a:t> </a:t>
                </a:r>
                <a:r>
                  <a:rPr lang="es-ES" sz="1200" dirty="0" err="1"/>
                  <a:t>for</a:t>
                </a:r>
                <a:r>
                  <a:rPr lang="es-ES" sz="1200" dirty="0"/>
                  <a:t> horizontal </a:t>
                </a:r>
                <a:r>
                  <a:rPr lang="es-ES" sz="1200" dirty="0" err="1"/>
                  <a:t>polarization</a:t>
                </a:r>
                <a:r>
                  <a:rPr lang="es-ES" sz="1200" dirty="0"/>
                  <a:t>. </a:t>
                </a:r>
                <a:r>
                  <a:rPr lang="es-ES" sz="1200" dirty="0" err="1"/>
                  <a:t>Conversely</a:t>
                </a:r>
                <a:r>
                  <a:rPr lang="es-ES" sz="1200" dirty="0"/>
                  <a:t>,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</a:t>
                </a:r>
                <a14:m>
                  <m:oMath xmlns:m="http://schemas.openxmlformats.org/officeDocument/2006/math">
                    <m:r>
                      <a:rPr lang="es-ES" sz="1200" b="0" i="1"/>
                      <m:t>𝑇𝑀</m:t>
                    </m:r>
                  </m:oMath>
                </a14:m>
                <a:r>
                  <a:rPr lang="es-ES" sz="1200" dirty="0" err="1"/>
                  <a:t>mode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exhibits</a:t>
                </a:r>
                <a:r>
                  <a:rPr lang="es-ES" sz="1200" dirty="0"/>
                  <a:t> a </a:t>
                </a:r>
                <a:r>
                  <a:rPr lang="es-ES" sz="1200" dirty="0" err="1"/>
                  <a:t>steeper</a:t>
                </a:r>
                <a:r>
                  <a:rPr lang="es-ES" sz="1200" dirty="0"/>
                  <a:t> </a:t>
                </a:r>
                <a:r>
                  <a:rPr lang="es-ES" sz="1200" dirty="0" err="1"/>
                  <a:t>second</a:t>
                </a:r>
                <a:r>
                  <a:rPr lang="es-ES" sz="1200" dirty="0"/>
                  <a:t> derivative (</a:t>
                </a:r>
                <a:r>
                  <a:rPr lang="es-ES" sz="1200" dirty="0" err="1"/>
                  <a:t>larger</a:t>
                </a:r>
                <a:r>
                  <a:rPr lang="es-ES" sz="1200" dirty="0"/>
                  <a:t> </a:t>
                </a:r>
                <a14:m>
                  <m:oMath xmlns:m="http://schemas.openxmlformats.org/officeDocument/2006/math">
                    <m:r>
                      <a:rPr lang="es-ES" sz="1200" b="0"/>
                      <m:t>|</m:t>
                    </m:r>
                    <m:sSub>
                      <m:sSubPr>
                        <m:ctrlPr>
                          <a:rPr lang="es-ES" sz="1200" b="0" i="1"/>
                        </m:ctrlPr>
                      </m:sSubPr>
                      <m:e>
                        <m:r>
                          <a:rPr lang="es-ES" sz="1200" b="0" i="1"/>
                          <m:t>𝑛</m:t>
                        </m:r>
                      </m:e>
                      <m:sub>
                        <m:r>
                          <a:rPr lang="es-ES" sz="1200" b="0" i="1"/>
                          <m:t>3</m:t>
                        </m:r>
                      </m:sub>
                    </m:sSub>
                    <m:r>
                      <a:rPr lang="es-ES" sz="1200" b="0"/>
                      <m:t>|</m:t>
                    </m:r>
                  </m:oMath>
                </a14:m>
                <a:r>
                  <a:rPr lang="es-ES" sz="1200" dirty="0"/>
                  <a:t>), </a:t>
                </a:r>
                <a:r>
                  <a:rPr lang="es-ES" sz="1200" dirty="0" err="1"/>
                  <a:t>resulting</a:t>
                </a:r>
                <a:r>
                  <a:rPr lang="es-ES" sz="1200" dirty="0"/>
                  <a:t> in a more negative </a:t>
                </a:r>
                <a:r>
                  <a:rPr lang="es-ES" sz="1200" dirty="0" err="1"/>
                  <a:t>dispersion</a:t>
                </a:r>
                <a:r>
                  <a:rPr lang="es-ES" sz="1200" dirty="0"/>
                  <a:t> </a:t>
                </a:r>
                <a:r>
                  <a:rPr lang="es-ES" sz="1200" dirty="0" err="1"/>
                  <a:t>parameter</a:t>
                </a:r>
                <a:r>
                  <a:rPr lang="es-ES" sz="1200" dirty="0"/>
                  <a:t> </a:t>
                </a:r>
                <a14:m>
                  <m:oMath xmlns:m="http://schemas.openxmlformats.org/officeDocument/2006/math">
                    <m:r>
                      <a:rPr lang="es-ES" sz="1200" b="0" i="1"/>
                      <m:t>𝐷</m:t>
                    </m:r>
                  </m:oMath>
                </a14:m>
                <a:r>
                  <a:rPr lang="es-ES" sz="1200" dirty="0"/>
                  <a:t>and </a:t>
                </a:r>
                <a:r>
                  <a:rPr lang="es-ES" sz="1200" dirty="0" err="1"/>
                  <a:t>heightened</a:t>
                </a:r>
                <a:r>
                  <a:rPr lang="es-ES" sz="1200" dirty="0"/>
                  <a:t> </a:t>
                </a:r>
                <a:r>
                  <a:rPr lang="es-ES" sz="1200" dirty="0" err="1"/>
                  <a:t>chromatic</a:t>
                </a:r>
                <a:r>
                  <a:rPr lang="es-ES" sz="1200" dirty="0"/>
                  <a:t> </a:t>
                </a:r>
                <a:r>
                  <a:rPr lang="es-ES" sz="1200" dirty="0" err="1"/>
                  <a:t>sensitivity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to</a:t>
                </a:r>
                <a:r>
                  <a:rPr lang="es-ES" sz="1200" dirty="0"/>
                  <a:t> </a:t>
                </a:r>
                <a:r>
                  <a:rPr lang="es-ES" sz="1200" dirty="0" err="1"/>
                  <a:t>wavelength</a:t>
                </a:r>
                <a:r>
                  <a:rPr lang="es-ES" sz="1200" dirty="0"/>
                  <a:t> </a:t>
                </a:r>
                <a:r>
                  <a:rPr lang="es-ES" sz="1200" dirty="0" err="1"/>
                  <a:t>detuning</a:t>
                </a:r>
                <a:r>
                  <a:rPr lang="es-ES" sz="1200" dirty="0"/>
                  <a:t>.</a:t>
                </a: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440F587-93A3-E474-C0B0-883BB9DAF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1" y="4860334"/>
                <a:ext cx="11198542" cy="1235466"/>
              </a:xfrm>
              <a:prstGeom prst="rect">
                <a:avLst/>
              </a:prstGeom>
              <a:blipFill>
                <a:blip r:embed="rId5"/>
                <a:stretch>
                  <a:fillRect b="-1442"/>
                </a:stretch>
              </a:blipFill>
              <a:ln w="28575">
                <a:solidFill>
                  <a:srgbClr val="E0700D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A6B92C76-6772-2E00-346F-532321092C04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886628E-6E58-1F7E-B6C6-432B9A228397}"/>
              </a:ext>
            </a:extLst>
          </p:cNvPr>
          <p:cNvSpPr/>
          <p:nvPr/>
        </p:nvSpPr>
        <p:spPr>
          <a:xfrm>
            <a:off x="6321424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AF500B3-B04D-F8EC-2597-DF4AF15D2D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5400" y="1586644"/>
            <a:ext cx="3899329" cy="309117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BCBE8C3-CF99-0568-B744-73AD856C23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1516191"/>
            <a:ext cx="4038600" cy="320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54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4E70-43B1-3881-1771-20FB4358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42C31CE-19F0-B995-0997-9A2D6A879B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Bend waveguide radius vs. loss – deep</a:t>
            </a:r>
            <a:br>
              <a:rPr lang="en-US" sz="2500" dirty="0"/>
            </a:br>
            <a:r>
              <a:rPr lang="en-US" b="0" dirty="0"/>
              <a:t>Find  neff_TE0 for </a:t>
            </a:r>
            <a:r>
              <a:rPr lang="en-US" b="0" dirty="0" err="1"/>
              <a:t>wvl</a:t>
            </a:r>
            <a:r>
              <a:rPr lang="en-US" b="0" dirty="0"/>
              <a:t> 1.55 µm, width 1.0 µm for R=25,50,75,100, 125,150 µm</a:t>
            </a:r>
            <a:br>
              <a:rPr lang="en-US" sz="2500" dirty="0"/>
            </a:b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688A609-F3DC-EE34-C536-683E70F32E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B6C672C6-89D4-7E67-2B94-811D081786A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A1F4313-D710-7A3E-7A8F-EB77DEE3C1A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FDE3A197-9508-F9F1-1FEB-FF883D78C151}"/>
                  </a:ext>
                </a:extLst>
              </p:cNvPr>
              <p:cNvSpPr txBox="1"/>
              <p:nvPr/>
            </p:nvSpPr>
            <p:spPr>
              <a:xfrm>
                <a:off x="609441" y="4860334"/>
                <a:ext cx="11199971" cy="120032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E0700D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s-ES" sz="1200" dirty="0"/>
                  <a:t>For </a:t>
                </a:r>
                <a:r>
                  <a:rPr lang="es-ES" sz="1200" dirty="0" err="1"/>
                  <a:t>tight</a:t>
                </a:r>
                <a:r>
                  <a:rPr lang="es-ES" sz="1200" dirty="0"/>
                  <a:t> </a:t>
                </a:r>
                <a:r>
                  <a:rPr lang="es-ES" sz="1200" dirty="0" err="1"/>
                  <a:t>bend</a:t>
                </a:r>
                <a:r>
                  <a:rPr lang="es-ES" sz="1200" dirty="0"/>
                  <a:t> </a:t>
                </a:r>
                <a:r>
                  <a:rPr lang="es-ES" sz="1200" dirty="0" err="1"/>
                  <a:t>radii</a:t>
                </a:r>
                <a:r>
                  <a:rPr lang="es-ES" sz="1200" dirty="0"/>
                  <a:t> (</a:t>
                </a:r>
                <a14:m>
                  <m:oMath xmlns:m="http://schemas.openxmlformats.org/officeDocument/2006/math">
                    <m:r>
                      <a:rPr lang="es-ES" sz="1200" b="0" i="1"/>
                      <m:t>𝑅</m:t>
                    </m:r>
                    <m:r>
                      <a:rPr lang="es-ES" sz="1200" b="0"/>
                      <m:t>&lt;</m:t>
                    </m:r>
                    <m:r>
                      <a:rPr lang="es-ES" sz="1200" b="0" i="1"/>
                      <m:t>50</m:t>
                    </m:r>
                    <m:r>
                      <a:rPr lang="es-ES" sz="1200" b="0"/>
                      <m:t> </m:t>
                    </m:r>
                    <m:r>
                      <a:rPr lang="es-ES" sz="1200" b="0" i="1"/>
                      <m:t>𝜇</m:t>
                    </m:r>
                    <m:r>
                      <a:rPr lang="es-ES" sz="1200" b="0" i="1"/>
                      <m:t>𝑚</m:t>
                    </m:r>
                  </m:oMath>
                </a14:m>
                <a:r>
                  <a:rPr lang="es-ES" sz="1200" dirty="0"/>
                  <a:t>), </a:t>
                </a:r>
                <a:r>
                  <a:rPr lang="es-ES" sz="1200" dirty="0" err="1"/>
                  <a:t>significant</a:t>
                </a:r>
                <a:r>
                  <a:rPr lang="es-ES" sz="1200" dirty="0"/>
                  <a:t> modal </a:t>
                </a:r>
                <a:r>
                  <a:rPr lang="es-ES" sz="1200" dirty="0" err="1"/>
                  <a:t>mismatch</a:t>
                </a:r>
                <a:r>
                  <a:rPr lang="es-ES" sz="1200" dirty="0"/>
                  <a:t> and </a:t>
                </a:r>
                <a:r>
                  <a:rPr lang="es-ES" sz="1200" dirty="0" err="1"/>
                  <a:t>radiation</a:t>
                </a:r>
                <a:r>
                  <a:rPr lang="es-ES" sz="1200" dirty="0"/>
                  <a:t> </a:t>
                </a:r>
                <a:r>
                  <a:rPr lang="es-ES" sz="1200" dirty="0" err="1"/>
                  <a:t>leakage</a:t>
                </a:r>
                <a:r>
                  <a:rPr lang="es-ES" sz="1200" dirty="0"/>
                  <a:t> induce </a:t>
                </a:r>
                <a:r>
                  <a:rPr lang="es-ES" sz="1200" dirty="0" err="1"/>
                  <a:t>high</a:t>
                </a:r>
                <a:r>
                  <a:rPr lang="es-ES" sz="1200" dirty="0"/>
                  <a:t> </a:t>
                </a:r>
                <a:r>
                  <a:rPr lang="es-ES" sz="1200" dirty="0" err="1"/>
                  <a:t>insertion</a:t>
                </a:r>
                <a:r>
                  <a:rPr lang="es-ES" sz="1200" dirty="0"/>
                  <a:t> </a:t>
                </a:r>
                <a:r>
                  <a:rPr lang="es-ES" sz="1200" dirty="0" err="1"/>
                  <a:t>losses</a:t>
                </a:r>
                <a:r>
                  <a:rPr lang="es-ES" sz="1200" dirty="0"/>
                  <a:t>. </a:t>
                </a:r>
                <a:r>
                  <a:rPr lang="es-ES" sz="1200" dirty="0" err="1"/>
                  <a:t>Conversely</a:t>
                </a:r>
                <a:r>
                  <a:rPr lang="es-ES" sz="1200" dirty="0"/>
                  <a:t>, as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curvature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radius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increases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beyond</a:t>
                </a:r>
                <a:r>
                  <a:rPr lang="es-ES" sz="1200" dirty="0"/>
                  <a:t> </a:t>
                </a:r>
                <a14:m>
                  <m:oMath xmlns:m="http://schemas.openxmlformats.org/officeDocument/2006/math">
                    <m:r>
                      <a:rPr lang="es-ES" sz="1200" b="0" i="1"/>
                      <m:t>75</m:t>
                    </m:r>
                    <m:r>
                      <a:rPr lang="es-ES" sz="1200" b="0"/>
                      <m:t> </m:t>
                    </m:r>
                    <m:r>
                      <a:rPr lang="es-ES" sz="1200" b="0" i="1"/>
                      <m:t>𝜇</m:t>
                    </m:r>
                    <m:r>
                      <a:rPr lang="es-ES" sz="1200" b="0" i="1"/>
                      <m:t>𝑚</m:t>
                    </m:r>
                  </m:oMath>
                </a14:m>
                <a:r>
                  <a:rPr lang="es-ES" sz="1200" dirty="0"/>
                  <a:t>, </a:t>
                </a:r>
                <a:r>
                  <a:rPr lang="es-ES" sz="1200" dirty="0" err="1"/>
                  <a:t>mode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overlap</a:t>
                </a:r>
                <a:r>
                  <a:rPr lang="es-ES" sz="1200" dirty="0"/>
                  <a:t> </a:t>
                </a:r>
                <a:r>
                  <a:rPr lang="es-ES" sz="1200" dirty="0" err="1"/>
                  <a:t>mismatch</a:t>
                </a:r>
                <a:r>
                  <a:rPr lang="es-ES" sz="1200" dirty="0"/>
                  <a:t> </a:t>
                </a:r>
                <a:r>
                  <a:rPr lang="es-ES" sz="1200" dirty="0" err="1"/>
                  <a:t>becomes</a:t>
                </a:r>
                <a:r>
                  <a:rPr lang="es-ES" sz="1200" dirty="0"/>
                  <a:t> negligible, and total </a:t>
                </a:r>
                <a:r>
                  <a:rPr lang="es-ES" sz="1200" dirty="0" err="1"/>
                  <a:t>attenuation</a:t>
                </a:r>
                <a:r>
                  <a:rPr lang="es-ES" sz="1200" dirty="0"/>
                  <a:t> </a:t>
                </a:r>
                <a:r>
                  <a:rPr lang="es-ES" sz="1200" dirty="0" err="1"/>
                  <a:t>becomes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linearly</a:t>
                </a:r>
                <a:r>
                  <a:rPr lang="es-ES" sz="1200" dirty="0"/>
                  <a:t> </a:t>
                </a:r>
                <a:r>
                  <a:rPr lang="es-ES" sz="1200" dirty="0" err="1"/>
                  <a:t>dominated</a:t>
                </a:r>
                <a:r>
                  <a:rPr lang="es-ES" sz="1200" dirty="0"/>
                  <a:t> </a:t>
                </a:r>
                <a:r>
                  <a:rPr lang="es-ES" sz="1200" dirty="0" err="1"/>
                  <a:t>by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physical</a:t>
                </a:r>
                <a:r>
                  <a:rPr lang="es-ES" sz="1200" dirty="0"/>
                  <a:t> </a:t>
                </a:r>
                <a:r>
                  <a:rPr lang="es-ES" sz="1200" dirty="0" err="1"/>
                  <a:t>arc</a:t>
                </a:r>
                <a:r>
                  <a:rPr lang="es-ES" sz="1200" dirty="0"/>
                  <a:t> </a:t>
                </a:r>
                <a:r>
                  <a:rPr lang="es-ES" sz="1200" dirty="0" err="1"/>
                  <a:t>length</a:t>
                </a:r>
                <a:r>
                  <a:rPr lang="es-ES" sz="1200" dirty="0"/>
                  <a:t> and linear </a:t>
                </a:r>
                <a:r>
                  <a:rPr lang="es-ES" sz="1200" dirty="0" err="1"/>
                  <a:t>propagation</a:t>
                </a:r>
                <a:r>
                  <a:rPr lang="es-ES" sz="1200" dirty="0"/>
                  <a:t> </a:t>
                </a:r>
                <a:r>
                  <a:rPr lang="es-ES" sz="1200" dirty="0" err="1"/>
                  <a:t>loss</a:t>
                </a:r>
                <a:r>
                  <a:rPr lang="es-ES" sz="1200" dirty="0"/>
                  <a:t>. </a:t>
                </a:r>
                <a:r>
                  <a:rPr lang="es-ES" sz="1200" dirty="0" err="1"/>
                  <a:t>Under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safe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radius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design</a:t>
                </a:r>
                <a:r>
                  <a:rPr lang="es-ES" sz="1200" dirty="0"/>
                  <a:t> </a:t>
                </a:r>
                <a:r>
                  <a:rPr lang="es-ES" sz="1200" dirty="0" err="1"/>
                  <a:t>criterion</a:t>
                </a:r>
                <a:r>
                  <a:rPr lang="es-ES" sz="1200" dirty="0"/>
                  <a:t>—</a:t>
                </a:r>
                <a:r>
                  <a:rPr lang="es-ES" sz="1200" dirty="0" err="1"/>
                  <a:t>defined</a:t>
                </a:r>
                <a:r>
                  <a:rPr lang="es-ES" sz="1200" dirty="0"/>
                  <a:t> as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minimum</a:t>
                </a:r>
                <a:r>
                  <a:rPr lang="es-ES" sz="1200" dirty="0"/>
                  <a:t> </a:t>
                </a:r>
                <a:r>
                  <a:rPr lang="es-ES" sz="1200" dirty="0" err="1"/>
                  <a:t>radius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that</a:t>
                </a:r>
                <a:r>
                  <a:rPr lang="es-ES" sz="1200" dirty="0"/>
                  <a:t> </a:t>
                </a:r>
                <a:r>
                  <a:rPr lang="es-ES" sz="1200" dirty="0" err="1"/>
                  <a:t>maintains</a:t>
                </a:r>
                <a:r>
                  <a:rPr lang="es-ES" sz="1200" dirty="0"/>
                  <a:t> total </a:t>
                </a:r>
                <a:r>
                  <a:rPr lang="es-ES" sz="1200" dirty="0" err="1"/>
                  <a:t>insertion</a:t>
                </a:r>
                <a:r>
                  <a:rPr lang="es-ES" sz="1200" dirty="0"/>
                  <a:t> </a:t>
                </a:r>
                <a:r>
                  <a:rPr lang="es-ES" sz="1200" dirty="0" err="1"/>
                  <a:t>loss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below</a:t>
                </a:r>
                <a:r>
                  <a:rPr lang="es-ES" sz="1200" dirty="0"/>
                  <a:t> </a:t>
                </a:r>
                <a14:m>
                  <m:oMath xmlns:m="http://schemas.openxmlformats.org/officeDocument/2006/math">
                    <m:r>
                      <a:rPr lang="es-ES" sz="1200" b="0" i="1"/>
                      <m:t>0</m:t>
                    </m:r>
                    <m:r>
                      <a:rPr lang="es-ES" sz="1200" b="0"/>
                      <m:t>.</m:t>
                    </m:r>
                    <m:r>
                      <a:rPr lang="es-ES" sz="1200" b="0" i="1"/>
                      <m:t>1</m:t>
                    </m:r>
                    <m:r>
                      <a:rPr lang="es-ES" sz="1200" b="0"/>
                      <m:t> </m:t>
                    </m:r>
                    <m:r>
                      <a:rPr lang="es-ES" sz="1200" b="0" i="1"/>
                      <m:t>𝑑𝐵</m:t>
                    </m:r>
                    <m:r>
                      <a:rPr lang="es-ES" sz="1200" b="0"/>
                      <m:t>/</m:t>
                    </m:r>
                    <m:sSup>
                      <m:sSupPr>
                        <m:ctrlPr>
                          <a:rPr lang="es-ES" sz="1200" b="0" i="1"/>
                        </m:ctrlPr>
                      </m:sSupPr>
                      <m:e>
                        <m:r>
                          <a:rPr lang="es-ES" sz="1200" b="0" i="1"/>
                          <m:t>90</m:t>
                        </m:r>
                      </m:e>
                      <m:sup>
                        <m:r>
                          <a:rPr lang="es-ES" sz="1200" b="0"/>
                          <m:t>∘</m:t>
                        </m:r>
                      </m:sup>
                    </m:sSup>
                  </m:oMath>
                </a14:m>
                <a:r>
                  <a:rPr lang="es-ES" sz="1200" dirty="0"/>
                  <a:t>—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waveguide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fulfills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this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requirement</a:t>
                </a:r>
                <a:r>
                  <a:rPr lang="es-ES" sz="1200" dirty="0"/>
                  <a:t> </a:t>
                </a:r>
                <a:r>
                  <a:rPr lang="es-ES" sz="1200" dirty="0" err="1"/>
                  <a:t>for</a:t>
                </a:r>
                <a:r>
                  <a:rPr lang="es-ES" sz="1200" dirty="0"/>
                  <a:t> </a:t>
                </a:r>
                <a:r>
                  <a:rPr lang="es-ES" sz="1200" dirty="0" err="1"/>
                  <a:t>any</a:t>
                </a:r>
                <a:r>
                  <a:rPr lang="es-ES" sz="1200" dirty="0"/>
                  <a:t> </a:t>
                </a:r>
                <a14:m>
                  <m:oMath xmlns:m="http://schemas.openxmlformats.org/officeDocument/2006/math">
                    <m:r>
                      <a:rPr lang="es-ES" sz="1200" b="0" i="1"/>
                      <m:t>𝑅</m:t>
                    </m:r>
                    <m:r>
                      <a:rPr lang="es-ES" sz="1200" b="0"/>
                      <m:t>≥</m:t>
                    </m:r>
                    <m:r>
                      <a:rPr lang="es-ES" sz="1200" b="0" i="1"/>
                      <m:t>50</m:t>
                    </m:r>
                    <m:r>
                      <a:rPr lang="es-ES" sz="1200" b="0"/>
                      <m:t> </m:t>
                    </m:r>
                    <m:r>
                      <a:rPr lang="es-ES" sz="1200" b="0" i="1"/>
                      <m:t>𝜇</m:t>
                    </m:r>
                    <m:r>
                      <a:rPr lang="es-ES" sz="1200" b="0" i="1"/>
                      <m:t>𝑚</m:t>
                    </m:r>
                  </m:oMath>
                </a14:m>
                <a:r>
                  <a:rPr lang="es-ES" sz="1200" dirty="0"/>
                  <a:t>. Within </a:t>
                </a:r>
                <a:r>
                  <a:rPr lang="es-ES" sz="1200" dirty="0" err="1"/>
                  <a:t>this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safe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operating</a:t>
                </a:r>
                <a:r>
                  <a:rPr lang="es-ES" sz="1200" dirty="0"/>
                  <a:t> </a:t>
                </a:r>
                <a:r>
                  <a:rPr lang="es-ES" sz="1200" dirty="0" err="1"/>
                  <a:t>window</a:t>
                </a:r>
                <a:r>
                  <a:rPr lang="es-ES" sz="1200" dirty="0"/>
                  <a:t>,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total </a:t>
                </a:r>
                <a:r>
                  <a:rPr lang="es-ES" sz="1200" dirty="0" err="1"/>
                  <a:t>loss</a:t>
                </a:r>
                <a:r>
                  <a:rPr lang="es-ES" sz="1200" dirty="0"/>
                  <a:t> curve </a:t>
                </a:r>
                <a:r>
                  <a:rPr lang="es-ES" sz="1200" dirty="0" err="1"/>
                  <a:t>attains</a:t>
                </a:r>
                <a:r>
                  <a:rPr lang="es-ES" sz="1200" dirty="0"/>
                  <a:t> a global </a:t>
                </a:r>
                <a:r>
                  <a:rPr lang="es-ES" sz="1200" dirty="0" err="1"/>
                  <a:t>minimum</a:t>
                </a:r>
                <a:r>
                  <a:rPr lang="es-ES" sz="1200" dirty="0"/>
                  <a:t> at </a:t>
                </a:r>
                <a14:m>
                  <m:oMath xmlns:m="http://schemas.openxmlformats.org/officeDocument/2006/math">
                    <m:r>
                      <a:rPr lang="es-ES" sz="1200" b="0" i="1"/>
                      <m:t>𝑅</m:t>
                    </m:r>
                    <m:r>
                      <a:rPr lang="es-ES" sz="1200" b="0"/>
                      <m:t>=</m:t>
                    </m:r>
                    <m:r>
                      <a:rPr lang="es-ES" sz="1200" b="0" i="1"/>
                      <m:t>86</m:t>
                    </m:r>
                    <m:r>
                      <a:rPr lang="es-ES" sz="1200" b="0"/>
                      <m:t>.</m:t>
                    </m:r>
                    <m:r>
                      <a:rPr lang="es-ES" sz="1200" b="0" i="1"/>
                      <m:t>0</m:t>
                    </m:r>
                    <m:r>
                      <a:rPr lang="es-ES" sz="1200" b="0"/>
                      <m:t> </m:t>
                    </m:r>
                    <m:r>
                      <a:rPr lang="es-ES" sz="1200" b="0" i="1"/>
                      <m:t>𝜇</m:t>
                    </m:r>
                    <m:r>
                      <a:rPr lang="es-ES" sz="1200" b="0" i="1"/>
                      <m:t>𝑚</m:t>
                    </m:r>
                  </m:oMath>
                </a14:m>
                <a:r>
                  <a:rPr lang="es-ES" sz="1200" dirty="0"/>
                  <a:t>, </a:t>
                </a:r>
                <a:r>
                  <a:rPr lang="es-ES" sz="1200" dirty="0" err="1"/>
                  <a:t>exhibiting</a:t>
                </a:r>
                <a:r>
                  <a:rPr lang="es-ES" sz="1200" dirty="0"/>
                  <a:t> </a:t>
                </a:r>
                <a:r>
                  <a:rPr lang="es-ES" sz="1200" dirty="0" err="1"/>
                  <a:t>an</a:t>
                </a:r>
                <a:r>
                  <a:rPr lang="es-ES" sz="1200" dirty="0"/>
                  <a:t> </a:t>
                </a:r>
                <a:r>
                  <a:rPr lang="es-ES" sz="1200" dirty="0" err="1"/>
                  <a:t>attenuation</a:t>
                </a:r>
                <a:r>
                  <a:rPr lang="es-ES" sz="1200" dirty="0"/>
                  <a:t> </a:t>
                </a:r>
                <a:r>
                  <a:rPr lang="es-ES" sz="1200" dirty="0" err="1"/>
                  <a:t>of</a:t>
                </a:r>
                <a:r>
                  <a:rPr lang="es-ES" sz="1200" dirty="0"/>
                  <a:t> </a:t>
                </a:r>
                <a:r>
                  <a:rPr lang="es-ES" sz="1200" dirty="0" err="1"/>
                  <a:t>merely</a:t>
                </a:r>
                <a:r>
                  <a:rPr lang="es-ES" sz="1200" dirty="0"/>
                  <a:t> </a:t>
                </a:r>
                <a14:m>
                  <m:oMath xmlns:m="http://schemas.openxmlformats.org/officeDocument/2006/math">
                    <m:r>
                      <a:rPr lang="es-ES" sz="1200" b="0" i="1"/>
                      <m:t>0</m:t>
                    </m:r>
                    <m:r>
                      <a:rPr lang="es-ES" sz="1200" b="0"/>
                      <m:t>.</m:t>
                    </m:r>
                    <m:r>
                      <a:rPr lang="es-ES" sz="1200" b="0" i="1"/>
                      <m:t>0329</m:t>
                    </m:r>
                    <m:r>
                      <a:rPr lang="es-ES" sz="1200" b="0"/>
                      <m:t> </m:t>
                    </m:r>
                    <m:r>
                      <a:rPr lang="es-ES" sz="1200" b="0" i="1"/>
                      <m:t>𝑑𝐵</m:t>
                    </m:r>
                  </m:oMath>
                </a14:m>
                <a:r>
                  <a:rPr lang="es-ES" sz="1200" dirty="0"/>
                  <a:t>. </a:t>
                </a:r>
                <a:r>
                  <a:rPr lang="es-ES" sz="1200" dirty="0" err="1"/>
                  <a:t>Consequently</a:t>
                </a:r>
                <a:r>
                  <a:rPr lang="es-ES" sz="1200" dirty="0"/>
                  <a:t>, </a:t>
                </a:r>
                <a:r>
                  <a:rPr lang="es-ES" sz="1200" dirty="0" err="1"/>
                  <a:t>while</a:t>
                </a:r>
                <a:r>
                  <a:rPr lang="es-ES" sz="1200" dirty="0"/>
                  <a:t> </a:t>
                </a:r>
                <a14:m>
                  <m:oMath xmlns:m="http://schemas.openxmlformats.org/officeDocument/2006/math">
                    <m:r>
                      <a:rPr lang="es-ES" sz="1200" b="0" i="1"/>
                      <m:t>𝑅</m:t>
                    </m:r>
                    <m:r>
                      <a:rPr lang="es-ES" sz="1200" b="0"/>
                      <m:t>=</m:t>
                    </m:r>
                    <m:r>
                      <a:rPr lang="es-ES" sz="1200" b="0" i="1"/>
                      <m:t>50</m:t>
                    </m:r>
                    <m:r>
                      <a:rPr lang="es-ES" sz="1200" b="0"/>
                      <m:t> </m:t>
                    </m:r>
                    <m:r>
                      <a:rPr lang="es-ES" sz="1200" b="0" i="1"/>
                      <m:t>𝜇</m:t>
                    </m:r>
                    <m:r>
                      <a:rPr lang="es-ES" sz="1200" b="0" i="1"/>
                      <m:t>𝑚</m:t>
                    </m:r>
                  </m:oMath>
                </a14:m>
                <a:r>
                  <a:rPr lang="es-ES" sz="1200" dirty="0" err="1"/>
                  <a:t>represents</a:t>
                </a:r>
                <a:r>
                  <a:rPr lang="es-ES" sz="1200" dirty="0"/>
                  <a:t> a </a:t>
                </a:r>
                <a:r>
                  <a:rPr lang="es-ES" sz="1200" dirty="0" err="1"/>
                  <a:t>reliable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design</a:t>
                </a:r>
                <a:r>
                  <a:rPr lang="es-ES" sz="1200" dirty="0"/>
                  <a:t> </a:t>
                </a:r>
                <a:r>
                  <a:rPr lang="es-ES" sz="1200" dirty="0" err="1"/>
                  <a:t>choice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to</a:t>
                </a:r>
                <a:r>
                  <a:rPr lang="es-ES" sz="1200" dirty="0"/>
                  <a:t> </a:t>
                </a:r>
                <a:r>
                  <a:rPr lang="es-ES" sz="1200" dirty="0" err="1"/>
                  <a:t>maximize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circuit</a:t>
                </a:r>
                <a:r>
                  <a:rPr lang="es-ES" sz="1200" dirty="0"/>
                  <a:t> </a:t>
                </a:r>
                <a:r>
                  <a:rPr lang="es-ES" sz="1200" dirty="0" err="1"/>
                  <a:t>packaging</a:t>
                </a:r>
                <a:r>
                  <a:rPr lang="es-ES" sz="1200" dirty="0"/>
                  <a:t> </a:t>
                </a:r>
                <a:r>
                  <a:rPr lang="es-ES" sz="1200" dirty="0" err="1"/>
                  <a:t>density</a:t>
                </a:r>
                <a:r>
                  <a:rPr lang="es-ES" sz="1200" dirty="0"/>
                  <a:t> (compact </a:t>
                </a:r>
                <a:r>
                  <a:rPr lang="es-ES" sz="1200" dirty="0" err="1"/>
                  <a:t>footprint</a:t>
                </a:r>
                <a:r>
                  <a:rPr lang="es-ES" sz="1200" dirty="0"/>
                  <a:t>) </a:t>
                </a:r>
                <a:r>
                  <a:rPr lang="es-ES" sz="1200" dirty="0" err="1"/>
                  <a:t>within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</a:t>
                </a:r>
                <a14:m>
                  <m:oMath xmlns:m="http://schemas.openxmlformats.org/officeDocument/2006/math">
                    <m:r>
                      <a:rPr lang="es-ES" sz="1200" b="0" i="1"/>
                      <m:t>0</m:t>
                    </m:r>
                    <m:r>
                      <a:rPr lang="es-ES" sz="1200" b="0"/>
                      <m:t>.</m:t>
                    </m:r>
                    <m:r>
                      <a:rPr lang="es-ES" sz="1200" b="0" i="1"/>
                      <m:t>1</m:t>
                    </m:r>
                    <m:r>
                      <a:rPr lang="es-ES" sz="1200" b="0"/>
                      <m:t> </m:t>
                    </m:r>
                    <m:r>
                      <a:rPr lang="es-ES" sz="1200" b="0" i="1"/>
                      <m:t>𝑑𝐵</m:t>
                    </m:r>
                  </m:oMath>
                </a14:m>
                <a:r>
                  <a:rPr lang="es-ES" sz="1200" dirty="0" err="1"/>
                  <a:t>budget</a:t>
                </a:r>
                <a:r>
                  <a:rPr lang="es-ES" sz="1200" dirty="0"/>
                  <a:t>, </a:t>
                </a:r>
                <a14:m>
                  <m:oMath xmlns:m="http://schemas.openxmlformats.org/officeDocument/2006/math">
                    <m:r>
                      <a:rPr lang="es-ES" sz="1200" b="0" i="1"/>
                      <m:t>𝑅</m:t>
                    </m:r>
                    <m:r>
                      <a:rPr lang="es-ES" sz="1200" b="0"/>
                      <m:t>≈</m:t>
                    </m:r>
                    <m:r>
                      <a:rPr lang="es-ES" sz="1200" b="0" i="1"/>
                      <m:t>86</m:t>
                    </m:r>
                    <m:r>
                      <a:rPr lang="es-ES" sz="1200" b="0"/>
                      <m:t> </m:t>
                    </m:r>
                    <m:r>
                      <a:rPr lang="es-ES" sz="1200" b="0" i="1"/>
                      <m:t>𝜇</m:t>
                    </m:r>
                    <m:r>
                      <a:rPr lang="es-ES" sz="1200" b="0" i="1"/>
                      <m:t>𝑚</m:t>
                    </m:r>
                  </m:oMath>
                </a14:m>
                <a:r>
                  <a:rPr lang="es-ES" sz="1200" dirty="0" err="1"/>
                  <a:t>constitutes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optimal</a:t>
                </a:r>
                <a:r>
                  <a:rPr lang="es-ES" sz="1200" dirty="0"/>
                  <a:t> </a:t>
                </a:r>
                <a:r>
                  <a:rPr lang="es-ES" sz="1200" dirty="0" err="1"/>
                  <a:t>operating</a:t>
                </a:r>
                <a:r>
                  <a:rPr lang="es-ES" sz="1200" dirty="0"/>
                  <a:t> </a:t>
                </a:r>
                <a:r>
                  <a:rPr lang="es-ES" sz="1200" dirty="0" err="1"/>
                  <a:t>point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to</a:t>
                </a:r>
                <a:r>
                  <a:rPr lang="es-ES" sz="1200" dirty="0"/>
                  <a:t> </a:t>
                </a:r>
                <a:r>
                  <a:rPr lang="es-ES" sz="1200" dirty="0" err="1"/>
                  <a:t>minimize</a:t>
                </a:r>
                <a:r>
                  <a:rPr lang="es-ES" sz="1200" dirty="0"/>
                  <a:t> cumulative </a:t>
                </a:r>
                <a:r>
                  <a:rPr lang="es-ES" sz="1200" dirty="0" err="1"/>
                  <a:t>routing</a:t>
                </a:r>
                <a:r>
                  <a:rPr lang="es-ES" sz="1200" dirty="0"/>
                  <a:t> </a:t>
                </a:r>
                <a:r>
                  <a:rPr lang="es-ES" sz="1200" dirty="0" err="1"/>
                  <a:t>losses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across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photonic</a:t>
                </a:r>
                <a:r>
                  <a:rPr lang="es-ES" sz="1200" dirty="0"/>
                  <a:t> </a:t>
                </a:r>
                <a:r>
                  <a:rPr lang="es-ES" sz="1200" dirty="0" err="1"/>
                  <a:t>circuit</a:t>
                </a:r>
                <a:r>
                  <a:rPr lang="es-ES" sz="1200" dirty="0"/>
                  <a:t>.</a:t>
                </a:r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FDE3A197-9508-F9F1-1FEB-FF883D78C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1" y="4860334"/>
                <a:ext cx="11199971" cy="1200329"/>
              </a:xfrm>
              <a:prstGeom prst="rect">
                <a:avLst/>
              </a:prstGeom>
              <a:blipFill>
                <a:blip r:embed="rId4"/>
                <a:stretch>
                  <a:fillRect b="-1485"/>
                </a:stretch>
              </a:blipFill>
              <a:ln w="28575">
                <a:solidFill>
                  <a:srgbClr val="E0700D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09FBBBB-69CA-B7E5-7176-8227F2788CF5}"/>
                  </a:ext>
                </a:extLst>
              </p:cNvPr>
              <p:cNvSpPr txBox="1"/>
              <p:nvPr/>
            </p:nvSpPr>
            <p:spPr>
              <a:xfrm>
                <a:off x="9941529" y="4179383"/>
                <a:ext cx="1856534" cy="439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["/>
                        <m:endChr m:val="]"/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𝑑𝐵</m:t>
                            </m:r>
                          </m:num>
                          <m:den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90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den>
                        </m:f>
                      </m:e>
                    </m:d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" sz="1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1800" b="0" i="0" smtClean="0">
                        <a:latin typeface="Cambria Math" panose="02040503050406030204" pitchFamily="18" charset="0"/>
                      </a:rPr>
                      <m:t>R</m:t>
                    </m:r>
                    <m:f>
                      <m:f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ES" sz="1800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["/>
                        <m:endChr m:val="]"/>
                        <m:ctrlPr>
                          <a:rPr lang="es-E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𝑑𝐵</m:t>
                            </m:r>
                          </m:num>
                          <m:den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µ</m:t>
                            </m:r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09FBBBB-69CA-B7E5-7176-8227F2788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1529" y="4179383"/>
                <a:ext cx="1856534" cy="439608"/>
              </a:xfrm>
              <a:prstGeom prst="rect">
                <a:avLst/>
              </a:prstGeom>
              <a:blipFill>
                <a:blip r:embed="rId5"/>
                <a:stretch>
                  <a:fillRect l="-3289" b="-1388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ángulo 6">
            <a:extLst>
              <a:ext uri="{FF2B5EF4-FFF2-40B4-BE49-F238E27FC236}">
                <a16:creationId xmlns:a16="http://schemas.microsoft.com/office/drawing/2014/main" id="{B5FE8755-B0BF-14B7-64E6-4BBB2560B9A6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B4017A7-C995-E877-0983-D18C569CDF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280155"/>
            <a:ext cx="4972734" cy="333883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05D197F-9E89-6831-EF0F-8BCE26E33E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6166" y="1376238"/>
            <a:ext cx="4898397" cy="331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438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8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878</TotalTime>
  <Words>861</Words>
  <Application>Microsoft Office PowerPoint</Application>
  <PresentationFormat>Panorámica</PresentationFormat>
  <Paragraphs>64</Paragraphs>
  <Slides>8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6" baseType="lpstr">
      <vt:lpstr>Aptos</vt:lpstr>
      <vt:lpstr>Arial</vt:lpstr>
      <vt:lpstr>Calibri</vt:lpstr>
      <vt:lpstr>Cambria Math</vt:lpstr>
      <vt:lpstr>Lucida Sans</vt:lpstr>
      <vt:lpstr>Times New Roman</vt:lpstr>
      <vt:lpstr>Wingdings</vt:lpstr>
      <vt:lpstr>Office Theme</vt:lpstr>
      <vt:lpstr>Presentación de PowerPoint</vt:lpstr>
      <vt:lpstr>Instructions General</vt:lpstr>
      <vt:lpstr>Learning outcome #1 – Convergence tests DE waveguide, w = 1.2 µm, neff_TE0, wvl 1.55 µm. </vt:lpstr>
      <vt:lpstr>Learning outcome #2 – Width dependence Width 0.6 - 1.6 µm (step 0.1 µm) – Wavelength 1.55 µm </vt:lpstr>
      <vt:lpstr>Learning outcome #2 – Width dependence Width 0.6 - 1.6 µm (step 0.1 µm) – Wavelength 1.55 µm </vt:lpstr>
      <vt:lpstr>Learning outcome #3 – Waveguide compact model Let’s model the waveguide using a second order polynomial:  n_eff (λ)=n_1+n_2 (λ-λ_0 )+n_3 (λ-λ_0 )^2 </vt:lpstr>
      <vt:lpstr>Learning outcome #4 – Bend waveguide radius vs. loss – deep Find  neff_TE0 for wvl 1.55 µm, width 1.0 µm for R=25,50,75,100, 125,150 µm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Andrés Sanchez-Toril Bastrygina</cp:lastModifiedBy>
  <cp:revision>9</cp:revision>
  <dcterms:created xsi:type="dcterms:W3CDTF">2025-01-27T02:46:57Z</dcterms:created>
  <dcterms:modified xsi:type="dcterms:W3CDTF">2026-10-01T18:07:15Z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